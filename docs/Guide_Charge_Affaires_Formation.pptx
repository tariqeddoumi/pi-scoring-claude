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864"/>
                </a:solidFill>
                <a:latin typeface="Calibri"/>
              </a:defRPr>
            </a:pPr>
            <a:r>
              <a:rPr sz="1200" b="0" i="0" u="none" strike="noStrike">
                <a:solidFill>
                  <a:srgbClr val="1F3864"/>
                </a:solidFill>
                <a:latin typeface="Calibri"/>
              </a:rPr>
              <a:t>Poids d'une vente selon le financement de l'acquéreur</a:t>
            </a:r>
          </a:p>
        </c:rich>
      </c:tx>
      <c:layout/>
      <c:overlay val="0"/>
    </c:title>
    <c:autoTitleDeleted val="0"/>
    <c:plotArea>
      <c:layout/>
      <c:barChart>
        <c:barDir val="bar"/>
        <c:grouping val="clustered"/>
        <c:varyColors val="0"/>
        <c:ser>
          <c:idx val="0"/>
          <c:order val="0"/>
          <c:tx>
            <c:strRef>
              <c:f>Sheet1!$B$1</c:f>
              <c:strCache>
                <c:ptCount val="1"/>
                <c:pt idx="0">
                  <c:v>Facteur</c:v>
                </c:pt>
              </c:strCache>
            </c:strRef>
          </c:tx>
          <c:spPr>
            <a:solidFill>
              <a:srgbClr val="2A7F8E"/>
            </a:solidFill>
            <a:effectLst/>
          </c:spPr>
          <c:invertIfNegative val="0"/>
          <c:dLbls>
            <c:numFmt formatCode="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cat>
            <c:multiLvlStrRef>
              <c:f>Sheet1!$A$2:$A$7</c:f>
              <c:multiLvlStrCache>
                <c:ptCount val="6"/>
                <c:lvl>
                  <c:pt idx="0">
                    <c:v>Crédit refusé</c:v>
                  </c:pt>
                  <c:pt idx="1">
                    <c:v>Financement non instruit</c:v>
                  </c:pt>
                  <c:pt idx="2">
                    <c:v>Demande de crédit en cours d'instruction</c:v>
                  </c:pt>
                  <c:pt idx="3">
                    <c:v>Crédit accordé</c:v>
                  </c:pt>
                  <c:pt idx="4">
                    <c:v>Autofinancement</c:v>
                  </c:pt>
                  <c:pt idx="5">
                    <c:v>Crédit acquéreur débloqué</c:v>
                  </c:pt>
                </c:lvl>
              </c:multiLvlStrCache>
            </c:multiLvlStrRef>
          </c:cat>
          <c:val>
            <c:numRef>
              <c:f>Sheet1!$B$2:$B$7</c:f>
              <c:numCache>
                <c:formatCode>General</c:formatCode>
                <c:ptCount val="6"/>
                <c:pt idx="0">
                  <c:v>0</c:v>
                </c:pt>
                <c:pt idx="1">
                  <c:v>0.2</c:v>
                </c:pt>
                <c:pt idx="2">
                  <c:v>0.4</c:v>
                </c:pt>
                <c:pt idx="3">
                  <c:v>0.8</c:v>
                </c:pt>
                <c:pt idx="4">
                  <c:v>1</c:v>
                </c:pt>
                <c:pt idx="5">
                  <c:v>1</c:v>
                </c:pt>
              </c:numCache>
            </c:numRef>
          </c:val>
        </c:ser>
        <c:dLbls>
          <c:numFmt formatCode="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session : savoir exactement quelles pièces réunir pour un dossier de promotion immobilière, où saisir chaque donnée, comment lire le résultat du scoring et comment suivre le dossier après octroi. Le guide Word détaille chaque point ; ce support en donne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règle n°1 : dans l'ancienne saisie, un champ vidé devenait 0 ; une impasse à 0 donnait la meilleure note. Depuis la correction, un vide reste une absence : le moteur applique la note plancher ou « Dossier incomplet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économique = moyenne pondérée des quatre domaines, ajusté par segment et zone, diminué des malus d'alertes, multiplié par le coefficient de la classe réglementaire BAM. La décision suit ensuite une hiérarchie de verrous avant les seuils.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dossier renvoyé par le directeur de centre ou par la contre-étude revient au statut « Brouillon ». Compléter, recalculer, puis soumettre à nouveau. Chaque transition est tracée avec son 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L'étape 6, « Synchroniser vers le scoring », est celle que l'on oublie le plus : elle reporte dans la saisie les données calculées à partir du suivi. Sans elle, les critères de la pratique marocaine restent vides et reçoivent la note la plus basse.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pièce est datée ; les fraîcheurs recommandées sont dans le guide (par exemple, modèle J de moins de 3 mois, certificat de propriété récent, expertise de moins de 12 mois). La liste est à valider avec la politique de crédit de l'établissement.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de ces données sont aussi des critères éliminatoires : l'apport effectif (jalon signature) et le foncier / autorisations (jalon tirage). Quatre sont des clés d'alerte : couverture de trésorerie, retard de paiement, retard de chantier, arrêt de chantier.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Nouveaux critères v4 : complétude de la chaîne d'autorisations (D2), ventes sécurisées par le financement de l'acquéreur (D3), quotité de désengagement comparée à l'équilibre (D4). Nouvelles alertes : autorisation de travaux manquante, acquéreurs non financés, mainlevée sous-tarifée, dépassement de la division des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Nouveaux critères v5 : tension du marché régional, entreprise de travaux, équipements non budgétés, autonomie de la tranche (D2) ; part du CA à écoulement lent, taux de désistement (D3) ; déblocages vs avancement certifié, dépassement du coût à terminaison (D4). Nouvelles alertes : tirages en avance, plan de tirage en retard, équipement en retard conditionnant la réception, composante sans preneur, tranche dépendante d'ouvrages non financés. Une donnée v5 non renseignée est notée au plancher : renseigner avant de re-scorer.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Références des pièces : voir la liste P01 à P39 du guide. Exemple : P17 est le plan de trésorerie mensuel du programme ; sans lui, la couverture de trésorerie et l'impasse ne peuvent pas être établies.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synchronisation se lance depuis le suivi du projet. Elle affiche la liste des valeurs reportées et leur justification. Sans fonds propres paramétrés par la Direction des risques, le contrôle de division des risques n'est pas effectué et le message le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hiérarchie est appliquée dans cet ordre : un contentieux l'emporte sur tout ; un dossier incomplet n'est jamais noté favorablement ; les seuils ne jouent qu'en dernier.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marqué « version retirée » : il a été calculé avec une ancienne version du modèle. Relancer le calcul avant tout passage en comité.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tirage travaux s'appuie sur une situation de travaux visée par l'architecte ou le BET. Un verrou d'autorisation ouvert interdit le tirage. La fiche projet indique la fraîcheur du score et la prochaine échéance de revue.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 simulation, préparation de comité, travail hors connexion, formation. Au premier usage, importer les macros et installer les boutons (onglet LisezMoi du classeur).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 chaque valeur doit pouvoir être justifiée par une pièce datée lors de la contre-étude.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 guide Word et le classeur Excel. Premier exercice proposé : monter le dossier d'exemple du classeur, lire le résultat, puis lancer le stress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6949440" y="1097280"/>
            <a:ext cx="1463040" cy="1463040"/>
          </a:xfrm>
          <a:prstGeom prst="ellipse">
            <a:avLst/>
          </a:prstGeom>
          <a:solidFill>
            <a:srgbClr val="C8553D"/>
          </a:solidFill>
          <a:ln w="12700">
            <a:solidFill>
              <a:srgbClr val="C8553D"/>
            </a:solidFill>
            <a:prstDash val="solid"/>
          </a:ln>
        </p:spPr>
      </p:sp>
      <p:pic>
        <p:nvPicPr>
          <p:cNvPr id="3" name="Image 0" descr="preencoded.png">    </p:cNvPr>
          <p:cNvPicPr>
            <a:picLocks noChangeAspect="1"/>
          </p:cNvPicPr>
          <p:nvPr/>
        </p:nvPicPr>
        <p:blipFill>
          <a:blip r:embed="rId1"/>
          <a:stretch>
            <a:fillRect/>
          </a:stretch>
        </p:blipFill>
        <p:spPr>
          <a:xfrm>
            <a:off x="7315200" y="1463040"/>
            <a:ext cx="731520" cy="731520"/>
          </a:xfrm>
          <a:prstGeom prst="rect">
            <a:avLst/>
          </a:prstGeom>
        </p:spPr>
      </p:pic>
      <p:sp>
        <p:nvSpPr>
          <p:cNvPr id="4" name="Text 1"/>
          <p:cNvSpPr txBox="1"/>
          <p:nvPr/>
        </p:nvSpPr>
        <p:spPr>
          <a:xfrm>
            <a:off x="548640" y="822960"/>
            <a:ext cx="6217920" cy="13258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Guide du</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chargé d'affaires</a:t>
            </a:r>
            <a:endParaRPr lang="en-US" sz="3600" dirty="0"/>
          </a:p>
        </p:txBody>
      </p:sp>
      <p:sp>
        <p:nvSpPr>
          <p:cNvPr id="5" name="Text 2"/>
          <p:cNvSpPr txBox="1"/>
          <p:nvPr/>
        </p:nvSpPr>
        <p:spPr>
          <a:xfrm>
            <a:off x="548640" y="2240280"/>
            <a:ext cx="6217920" cy="457200"/>
          </a:xfrm>
          <a:prstGeom prst="rect">
            <a:avLst/>
          </a:prstGeom>
          <a:noFill/>
          <a:ln/>
        </p:spPr>
        <p:txBody>
          <a:bodyPr wrap="square" lIns="0" tIns="0" rIns="0" bIns="0" rtlCol="0" anchor="ctr"/>
          <a:lstStyle/>
          <a:p>
            <a:pPr indent="0" marL="0">
              <a:buNone/>
            </a:pPr>
            <a:r>
              <a:rPr lang="en-US" sz="2200" dirty="0">
                <a:solidFill>
                  <a:srgbClr val="F2B8A6"/>
                </a:solidFill>
                <a:latin typeface="Cambria" pitchFamily="34" charset="0"/>
                <a:ea typeface="Cambria" pitchFamily="34" charset="-122"/>
                <a:cs typeface="Cambria" pitchFamily="34" charset="-120"/>
              </a:rPr>
              <a:t>Crédit à la promotion immobilière</a:t>
            </a:r>
            <a:endParaRPr lang="en-US" sz="2200" dirty="0"/>
          </a:p>
        </p:txBody>
      </p:sp>
      <p:sp>
        <p:nvSpPr>
          <p:cNvPr id="6" name="Text 3"/>
          <p:cNvSpPr txBox="1"/>
          <p:nvPr/>
        </p:nvSpPr>
        <p:spPr>
          <a:xfrm>
            <a:off x="548640" y="2834640"/>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Pièces à réunir · où saisir chaque donnée · lire le résultat · suivre le dossier</a:t>
            </a:r>
            <a:endParaRPr lang="en-US" sz="1400" dirty="0"/>
          </a:p>
        </p:txBody>
      </p:sp>
      <p:sp>
        <p:nvSpPr>
          <p:cNvPr id="7" name="Text 4"/>
          <p:cNvSpPr txBox="1"/>
          <p:nvPr/>
        </p:nvSpPr>
        <p:spPr>
          <a:xfrm>
            <a:off x="548640" y="4297680"/>
            <a:ext cx="731520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Modèle de scoring PI_PROMOTION v5.0.0 · outil Excel 5.0 · octobre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L'essentiel : cinq règles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Ce qui fait la qualité d'une note, avant tout calcul</a:t>
            </a:r>
            <a:endParaRPr lang="en-US" sz="1300" dirty="0"/>
          </a:p>
        </p:txBody>
      </p:sp>
      <p:sp>
        <p:nvSpPr>
          <p:cNvPr id="4" name="Shape 2"/>
          <p:cNvSpPr/>
          <p:nvPr/>
        </p:nvSpPr>
        <p:spPr>
          <a:xfrm>
            <a:off x="457200" y="1325880"/>
            <a:ext cx="457200" cy="457200"/>
          </a:xfrm>
          <a:prstGeom prst="ellipse">
            <a:avLst/>
          </a:prstGeom>
          <a:solidFill>
            <a:srgbClr val="C8553D"/>
          </a:solidFill>
          <a:ln w="12700">
            <a:solidFill>
              <a:srgbClr val="C8553D"/>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51560" y="1307592"/>
            <a:ext cx="4846320" cy="27432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Vide = donnée absente</a:t>
            </a:r>
            <a:endParaRPr lang="en-US" sz="1500" dirty="0"/>
          </a:p>
        </p:txBody>
      </p:sp>
      <p:sp>
        <p:nvSpPr>
          <p:cNvPr id="7" name="Text 5"/>
          <p:cNvSpPr txBox="1"/>
          <p:nvPr/>
        </p:nvSpPr>
        <p:spPr>
          <a:xfrm>
            <a:off x="1051560" y="1572768"/>
            <a:ext cx="4846320" cy="27432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Jamais 0, jamais « Non » par défaut : note la plus basse.</a:t>
            </a:r>
            <a:endParaRPr lang="en-US" sz="1200" dirty="0"/>
          </a:p>
        </p:txBody>
      </p:sp>
      <p:sp>
        <p:nvSpPr>
          <p:cNvPr id="8" name="Shape 6"/>
          <p:cNvSpPr/>
          <p:nvPr/>
        </p:nvSpPr>
        <p:spPr>
          <a:xfrm>
            <a:off x="457200" y="1984248"/>
            <a:ext cx="457200" cy="457200"/>
          </a:xfrm>
          <a:prstGeom prst="ellipse">
            <a:avLst/>
          </a:prstGeom>
          <a:solidFill>
            <a:srgbClr val="C8553D"/>
          </a:solidFill>
          <a:ln w="12700">
            <a:solidFill>
              <a:srgbClr val="C8553D"/>
            </a:solidFill>
            <a:prstDash val="solid"/>
          </a:ln>
        </p:spPr>
      </p:sp>
      <p:sp>
        <p:nvSpPr>
          <p:cNvPr id="9" name="Text 7"/>
          <p:cNvSpPr txBox="1"/>
          <p:nvPr/>
        </p:nvSpPr>
        <p:spPr>
          <a:xfrm>
            <a:off x="457200" y="19842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51560" y="1965960"/>
            <a:ext cx="4846320" cy="27432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Une valeur, une pièce datée</a:t>
            </a:r>
            <a:endParaRPr lang="en-US" sz="1500" dirty="0"/>
          </a:p>
        </p:txBody>
      </p:sp>
      <p:sp>
        <p:nvSpPr>
          <p:cNvPr id="11" name="Text 9"/>
          <p:cNvSpPr txBox="1"/>
          <p:nvPr/>
        </p:nvSpPr>
        <p:spPr>
          <a:xfrm>
            <a:off x="1051560" y="2231136"/>
            <a:ext cx="4846320" cy="27432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Chaque donnée saisie renvoie à une pièce du dossier.</a:t>
            </a:r>
            <a:endParaRPr lang="en-US" sz="1200" dirty="0"/>
          </a:p>
        </p:txBody>
      </p:sp>
      <p:sp>
        <p:nvSpPr>
          <p:cNvPr id="12" name="Shape 10"/>
          <p:cNvSpPr/>
          <p:nvPr/>
        </p:nvSpPr>
        <p:spPr>
          <a:xfrm>
            <a:off x="457200" y="2642616"/>
            <a:ext cx="457200" cy="457200"/>
          </a:xfrm>
          <a:prstGeom prst="ellipse">
            <a:avLst/>
          </a:prstGeom>
          <a:solidFill>
            <a:srgbClr val="C8553D"/>
          </a:solidFill>
          <a:ln w="12700">
            <a:solidFill>
              <a:srgbClr val="C8553D"/>
            </a:solidFill>
            <a:prstDash val="solid"/>
          </a:ln>
        </p:spPr>
      </p:sp>
      <p:sp>
        <p:nvSpPr>
          <p:cNvPr id="13" name="Text 11"/>
          <p:cNvSpPr txBox="1"/>
          <p:nvPr/>
        </p:nvSpPr>
        <p:spPr>
          <a:xfrm>
            <a:off x="457200" y="2642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51560" y="2624328"/>
            <a:ext cx="4846320" cy="27432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Synchroniser avant de calculer</a:t>
            </a:r>
            <a:endParaRPr lang="en-US" sz="1500" dirty="0"/>
          </a:p>
        </p:txBody>
      </p:sp>
      <p:sp>
        <p:nvSpPr>
          <p:cNvPr id="15" name="Text 13"/>
          <p:cNvSpPr txBox="1"/>
          <p:nvPr/>
        </p:nvSpPr>
        <p:spPr>
          <a:xfrm>
            <a:off x="1051560" y="2889504"/>
            <a:ext cx="4846320" cy="27432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 suivi alimente ventes, autorisations, impayés…</a:t>
            </a:r>
            <a:endParaRPr lang="en-US" sz="1200" dirty="0"/>
          </a:p>
        </p:txBody>
      </p:sp>
      <p:sp>
        <p:nvSpPr>
          <p:cNvPr id="16" name="Shape 14"/>
          <p:cNvSpPr/>
          <p:nvPr/>
        </p:nvSpPr>
        <p:spPr>
          <a:xfrm>
            <a:off x="457200" y="3300984"/>
            <a:ext cx="457200" cy="457200"/>
          </a:xfrm>
          <a:prstGeom prst="ellipse">
            <a:avLst/>
          </a:prstGeom>
          <a:solidFill>
            <a:srgbClr val="C8553D"/>
          </a:solidFill>
          <a:ln w="12700">
            <a:solidFill>
              <a:srgbClr val="C8553D"/>
            </a:solidFill>
            <a:prstDash val="solid"/>
          </a:ln>
        </p:spPr>
      </p:sp>
      <p:sp>
        <p:nvSpPr>
          <p:cNvPr id="17" name="Text 15"/>
          <p:cNvSpPr txBox="1"/>
          <p:nvPr/>
        </p:nvSpPr>
        <p:spPr>
          <a:xfrm>
            <a:off x="457200" y="33009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51560" y="3282696"/>
            <a:ext cx="4846320" cy="27432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Lire « Lecture du résultat »</a:t>
            </a:r>
            <a:endParaRPr lang="en-US" sz="1500" dirty="0"/>
          </a:p>
        </p:txBody>
      </p:sp>
      <p:sp>
        <p:nvSpPr>
          <p:cNvPr id="19" name="Text 17"/>
          <p:cNvSpPr txBox="1"/>
          <p:nvPr/>
        </p:nvSpPr>
        <p:spPr>
          <a:xfrm>
            <a:off x="1051560" y="3547872"/>
            <a:ext cx="4846320" cy="27432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Données manquantes, conditions, alertes, comité.</a:t>
            </a:r>
            <a:endParaRPr lang="en-US" sz="1200" dirty="0"/>
          </a:p>
        </p:txBody>
      </p:sp>
      <p:sp>
        <p:nvSpPr>
          <p:cNvPr id="20" name="Shape 18"/>
          <p:cNvSpPr/>
          <p:nvPr/>
        </p:nvSpPr>
        <p:spPr>
          <a:xfrm>
            <a:off x="457200" y="3959352"/>
            <a:ext cx="457200" cy="457200"/>
          </a:xfrm>
          <a:prstGeom prst="ellipse">
            <a:avLst/>
          </a:prstGeom>
          <a:solidFill>
            <a:srgbClr val="C8553D"/>
          </a:solidFill>
          <a:ln w="12700">
            <a:solidFill>
              <a:srgbClr val="C8553D"/>
            </a:solidFill>
            <a:prstDash val="solid"/>
          </a:ln>
        </p:spPr>
      </p:sp>
      <p:sp>
        <p:nvSpPr>
          <p:cNvPr id="21" name="Text 19"/>
          <p:cNvSpPr txBox="1"/>
          <p:nvPr/>
        </p:nvSpPr>
        <p:spPr>
          <a:xfrm>
            <a:off x="457200" y="3959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051560" y="3941064"/>
            <a:ext cx="4846320" cy="27432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Déclarer tout événement</a:t>
            </a:r>
            <a:endParaRPr lang="en-US" sz="1500" dirty="0"/>
          </a:p>
        </p:txBody>
      </p:sp>
      <p:sp>
        <p:nvSpPr>
          <p:cNvPr id="23" name="Text 21"/>
          <p:cNvSpPr txBox="1"/>
          <p:nvPr/>
        </p:nvSpPr>
        <p:spPr>
          <a:xfrm>
            <a:off x="1051560" y="4206240"/>
            <a:ext cx="4846320" cy="27432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Impayé, arrêt, avenant, litige : nouveau calcul.</a:t>
            </a:r>
            <a:endParaRPr lang="en-US" sz="1200" dirty="0"/>
          </a:p>
        </p:txBody>
      </p:sp>
      <p:sp>
        <p:nvSpPr>
          <p:cNvPr id="24" name="Shape 22"/>
          <p:cNvSpPr/>
          <p:nvPr/>
        </p:nvSpPr>
        <p:spPr>
          <a:xfrm>
            <a:off x="6080760" y="1325880"/>
            <a:ext cx="2606040" cy="3154680"/>
          </a:xfrm>
          <a:prstGeom prst="roundRect">
            <a:avLst>
              <a:gd name="adj" fmla="val 2807"/>
            </a:avLst>
          </a:prstGeom>
          <a:solidFill>
            <a:srgbClr val="1F3864"/>
          </a:solidFill>
          <a:ln w="12700">
            <a:solidFill>
              <a:srgbClr val="1F3864"/>
            </a:solidFill>
            <a:prstDash val="solid"/>
          </a:ln>
        </p:spPr>
      </p:sp>
      <p:sp>
        <p:nvSpPr>
          <p:cNvPr id="25" name="Text 23"/>
          <p:cNvSpPr txBox="1"/>
          <p:nvPr/>
        </p:nvSpPr>
        <p:spPr>
          <a:xfrm>
            <a:off x="6080760" y="1508760"/>
            <a:ext cx="260604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9</a:t>
            </a:r>
            <a:endParaRPr lang="en-US" sz="6000" dirty="0"/>
          </a:p>
        </p:txBody>
      </p:sp>
      <p:sp>
        <p:nvSpPr>
          <p:cNvPr id="26" name="Text 24"/>
          <p:cNvSpPr txBox="1"/>
          <p:nvPr/>
        </p:nvSpPr>
        <p:spPr>
          <a:xfrm>
            <a:off x="6217920" y="2423160"/>
            <a:ext cx="2331720" cy="320040"/>
          </a:xfrm>
          <a:prstGeom prst="rect">
            <a:avLst/>
          </a:prstGeom>
          <a:noFill/>
          <a:ln/>
        </p:spPr>
        <p:txBody>
          <a:bodyPr wrap="square" lIns="0" tIns="0" rIns="0" bIns="0" rtlCol="0" anchor="ctr"/>
          <a:lstStyle/>
          <a:p>
            <a:pPr algn="ctr" indent="0" marL="0">
              <a:buNone/>
            </a:pPr>
            <a:r>
              <a:rPr lang="en-US" sz="1500" b="1" dirty="0">
                <a:solidFill>
                  <a:srgbClr val="F2B8A6"/>
                </a:solidFill>
                <a:latin typeface="Calibri" pitchFamily="34" charset="0"/>
                <a:ea typeface="Calibri" pitchFamily="34" charset="-122"/>
                <a:cs typeface="Calibri" pitchFamily="34" charset="-120"/>
              </a:rPr>
              <a:t>données décisionnelles</a:t>
            </a:r>
            <a:endParaRPr lang="en-US" sz="1500" dirty="0"/>
          </a:p>
        </p:txBody>
      </p:sp>
      <p:sp>
        <p:nvSpPr>
          <p:cNvPr id="27" name="Text 25"/>
          <p:cNvSpPr txBox="1"/>
          <p:nvPr/>
        </p:nvSpPr>
        <p:spPr>
          <a:xfrm>
            <a:off x="6263640" y="2834640"/>
            <a:ext cx="2240280" cy="146304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Si l'une manque, la décision est « Dossier incomplet ». Pour les impayés, le retard et l'arrêt de chantier : saisir 0 quand il n'y en a pas.</a:t>
            </a:r>
            <a:endParaRPr lang="en-US" sz="1200" dirty="0"/>
          </a:p>
        </p:txBody>
      </p:sp>
      <p:sp>
        <p:nvSpPr>
          <p:cNvPr id="28" name="Text 26"/>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 modèle en un coup d'œil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37 critères notés de 1 à 10, 18 alertes, une décision</a:t>
            </a:r>
            <a:endParaRPr lang="en-US" sz="1300" dirty="0"/>
          </a:p>
        </p:txBody>
      </p:sp>
      <p:sp>
        <p:nvSpPr>
          <p:cNvPr id="4" name="Shape 2"/>
          <p:cNvSpPr/>
          <p:nvPr/>
        </p:nvSpPr>
        <p:spPr>
          <a:xfrm>
            <a:off x="457200" y="1325880"/>
            <a:ext cx="1920240" cy="2011680"/>
          </a:xfrm>
          <a:prstGeom prst="roundRect">
            <a:avLst>
              <a:gd name="adj" fmla="val 3810"/>
            </a:avLst>
          </a:prstGeom>
          <a:solidFill>
            <a:srgbClr val="EEF2F8"/>
          </a:solidFill>
          <a:ln w="12700">
            <a:solidFill>
              <a:srgbClr val="EEF2F8"/>
            </a:solidFill>
            <a:prstDash val="solid"/>
          </a:ln>
        </p:spPr>
      </p:sp>
      <p:sp>
        <p:nvSpPr>
          <p:cNvPr id="5" name="Text 3"/>
          <p:cNvSpPr txBox="1"/>
          <p:nvPr/>
        </p:nvSpPr>
        <p:spPr>
          <a:xfrm>
            <a:off x="457200" y="1417320"/>
            <a:ext cx="1920240" cy="685800"/>
          </a:xfrm>
          <a:prstGeom prst="rect">
            <a:avLst/>
          </a:prstGeom>
          <a:noFill/>
          <a:ln/>
        </p:spPr>
        <p:txBody>
          <a:bodyPr wrap="square" lIns="0" tIns="0" rIns="0" bIns="0" rtlCol="0" anchor="ctr"/>
          <a:lstStyle/>
          <a:p>
            <a:pPr algn="ctr" indent="0" marL="0">
              <a:buNone/>
            </a:pPr>
            <a:r>
              <a:rPr lang="en-US" sz="3600" b="1" dirty="0">
                <a:solidFill>
                  <a:srgbClr val="1F3864"/>
                </a:solidFill>
                <a:latin typeface="Cambria" pitchFamily="34" charset="0"/>
                <a:ea typeface="Cambria" pitchFamily="34" charset="-122"/>
                <a:cs typeface="Cambria" pitchFamily="34" charset="-120"/>
              </a:rPr>
              <a:t>25 %</a:t>
            </a:r>
            <a:endParaRPr lang="en-US" sz="3600" dirty="0"/>
          </a:p>
        </p:txBody>
      </p:sp>
      <p:sp>
        <p:nvSpPr>
          <p:cNvPr id="6" name="Text 4"/>
          <p:cNvSpPr txBox="1"/>
          <p:nvPr/>
        </p:nvSpPr>
        <p:spPr>
          <a:xfrm>
            <a:off x="566928" y="2148840"/>
            <a:ext cx="1700784" cy="68580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D1 — Sponsor &amp; Gouvernance</a:t>
            </a:r>
            <a:endParaRPr lang="en-US" sz="1300" dirty="0"/>
          </a:p>
        </p:txBody>
      </p:sp>
      <p:sp>
        <p:nvSpPr>
          <p:cNvPr id="7" name="Text 5"/>
          <p:cNvSpPr txBox="1"/>
          <p:nvPr/>
        </p:nvSpPr>
        <p:spPr>
          <a:xfrm>
            <a:off x="457200" y="2880360"/>
            <a:ext cx="192024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Calibri" pitchFamily="34" charset="0"/>
                <a:ea typeface="Calibri" pitchFamily="34" charset="-122"/>
                <a:cs typeface="Calibri" pitchFamily="34" charset="-120"/>
              </a:rPr>
              <a:t>6 critères</a:t>
            </a:r>
            <a:endParaRPr lang="en-US" sz="1200" dirty="0"/>
          </a:p>
        </p:txBody>
      </p:sp>
      <p:sp>
        <p:nvSpPr>
          <p:cNvPr id="8" name="Shape 6"/>
          <p:cNvSpPr/>
          <p:nvPr/>
        </p:nvSpPr>
        <p:spPr>
          <a:xfrm>
            <a:off x="2560320" y="1325880"/>
            <a:ext cx="1920240" cy="2011680"/>
          </a:xfrm>
          <a:prstGeom prst="roundRect">
            <a:avLst>
              <a:gd name="adj" fmla="val 3810"/>
            </a:avLst>
          </a:prstGeom>
          <a:solidFill>
            <a:srgbClr val="EEF2F8"/>
          </a:solidFill>
          <a:ln w="12700">
            <a:solidFill>
              <a:srgbClr val="EEF2F8"/>
            </a:solidFill>
            <a:prstDash val="solid"/>
          </a:ln>
        </p:spPr>
      </p:sp>
      <p:sp>
        <p:nvSpPr>
          <p:cNvPr id="9" name="Text 7"/>
          <p:cNvSpPr txBox="1"/>
          <p:nvPr/>
        </p:nvSpPr>
        <p:spPr>
          <a:xfrm>
            <a:off x="2560320" y="1417320"/>
            <a:ext cx="1920240" cy="685800"/>
          </a:xfrm>
          <a:prstGeom prst="rect">
            <a:avLst/>
          </a:prstGeom>
          <a:noFill/>
          <a:ln/>
        </p:spPr>
        <p:txBody>
          <a:bodyPr wrap="square" lIns="0" tIns="0" rIns="0" bIns="0" rtlCol="0" anchor="ctr"/>
          <a:lstStyle/>
          <a:p>
            <a:pPr algn="ctr" indent="0" marL="0">
              <a:buNone/>
            </a:pPr>
            <a:r>
              <a:rPr lang="en-US" sz="3600" b="1" dirty="0">
                <a:solidFill>
                  <a:srgbClr val="1F3864"/>
                </a:solidFill>
                <a:latin typeface="Cambria" pitchFamily="34" charset="0"/>
                <a:ea typeface="Cambria" pitchFamily="34" charset="-122"/>
                <a:cs typeface="Cambria" pitchFamily="34" charset="-120"/>
              </a:rPr>
              <a:t>20 %</a:t>
            </a:r>
            <a:endParaRPr lang="en-US" sz="3600" dirty="0"/>
          </a:p>
        </p:txBody>
      </p:sp>
      <p:sp>
        <p:nvSpPr>
          <p:cNvPr id="10" name="Text 8"/>
          <p:cNvSpPr txBox="1"/>
          <p:nvPr/>
        </p:nvSpPr>
        <p:spPr>
          <a:xfrm>
            <a:off x="2670048" y="2148840"/>
            <a:ext cx="1700784" cy="68580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D2 — Qualité intrinsèque du projet</a:t>
            </a:r>
            <a:endParaRPr lang="en-US" sz="1300" dirty="0"/>
          </a:p>
        </p:txBody>
      </p:sp>
      <p:sp>
        <p:nvSpPr>
          <p:cNvPr id="11" name="Text 9"/>
          <p:cNvSpPr txBox="1"/>
          <p:nvPr/>
        </p:nvSpPr>
        <p:spPr>
          <a:xfrm>
            <a:off x="2560320" y="2880360"/>
            <a:ext cx="192024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Calibri" pitchFamily="34" charset="0"/>
                <a:ea typeface="Calibri" pitchFamily="34" charset="-122"/>
                <a:cs typeface="Calibri" pitchFamily="34" charset="-120"/>
              </a:rPr>
              <a:t>12 critères</a:t>
            </a:r>
            <a:endParaRPr lang="en-US" sz="1200" dirty="0"/>
          </a:p>
        </p:txBody>
      </p:sp>
      <p:sp>
        <p:nvSpPr>
          <p:cNvPr id="12" name="Shape 10"/>
          <p:cNvSpPr/>
          <p:nvPr/>
        </p:nvSpPr>
        <p:spPr>
          <a:xfrm>
            <a:off x="4663440" y="1325880"/>
            <a:ext cx="1920240" cy="2011680"/>
          </a:xfrm>
          <a:prstGeom prst="roundRect">
            <a:avLst>
              <a:gd name="adj" fmla="val 3810"/>
            </a:avLst>
          </a:prstGeom>
          <a:solidFill>
            <a:srgbClr val="EEF2F8"/>
          </a:solidFill>
          <a:ln w="12700">
            <a:solidFill>
              <a:srgbClr val="EEF2F8"/>
            </a:solidFill>
            <a:prstDash val="solid"/>
          </a:ln>
        </p:spPr>
      </p:sp>
      <p:sp>
        <p:nvSpPr>
          <p:cNvPr id="13" name="Text 11"/>
          <p:cNvSpPr txBox="1"/>
          <p:nvPr/>
        </p:nvSpPr>
        <p:spPr>
          <a:xfrm>
            <a:off x="4663440" y="1417320"/>
            <a:ext cx="1920240" cy="685800"/>
          </a:xfrm>
          <a:prstGeom prst="rect">
            <a:avLst/>
          </a:prstGeom>
          <a:noFill/>
          <a:ln/>
        </p:spPr>
        <p:txBody>
          <a:bodyPr wrap="square" lIns="0" tIns="0" rIns="0" bIns="0" rtlCol="0" anchor="ctr"/>
          <a:lstStyle/>
          <a:p>
            <a:pPr algn="ctr" indent="0" marL="0">
              <a:buNone/>
            </a:pPr>
            <a:r>
              <a:rPr lang="en-US" sz="3600" b="1" dirty="0">
                <a:solidFill>
                  <a:srgbClr val="1F3864"/>
                </a:solidFill>
                <a:latin typeface="Cambria" pitchFamily="34" charset="0"/>
                <a:ea typeface="Cambria" pitchFamily="34" charset="-122"/>
                <a:cs typeface="Cambria" pitchFamily="34" charset="-120"/>
              </a:rPr>
              <a:t>31 %</a:t>
            </a:r>
            <a:endParaRPr lang="en-US" sz="3600" dirty="0"/>
          </a:p>
        </p:txBody>
      </p:sp>
      <p:sp>
        <p:nvSpPr>
          <p:cNvPr id="14" name="Text 12"/>
          <p:cNvSpPr txBox="1"/>
          <p:nvPr/>
        </p:nvSpPr>
        <p:spPr>
          <a:xfrm>
            <a:off x="4773168" y="2148840"/>
            <a:ext cx="1700784" cy="68580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D3 — Commercial &amp; Cash-flow</a:t>
            </a:r>
            <a:endParaRPr lang="en-US" sz="1300" dirty="0"/>
          </a:p>
        </p:txBody>
      </p:sp>
      <p:sp>
        <p:nvSpPr>
          <p:cNvPr id="15" name="Text 13"/>
          <p:cNvSpPr txBox="1"/>
          <p:nvPr/>
        </p:nvSpPr>
        <p:spPr>
          <a:xfrm>
            <a:off x="4663440" y="2880360"/>
            <a:ext cx="192024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Calibri" pitchFamily="34" charset="0"/>
                <a:ea typeface="Calibri" pitchFamily="34" charset="-122"/>
                <a:cs typeface="Calibri" pitchFamily="34" charset="-120"/>
              </a:rPr>
              <a:t>10 critères</a:t>
            </a:r>
            <a:endParaRPr lang="en-US" sz="1200" dirty="0"/>
          </a:p>
        </p:txBody>
      </p:sp>
      <p:sp>
        <p:nvSpPr>
          <p:cNvPr id="16" name="Shape 14"/>
          <p:cNvSpPr/>
          <p:nvPr/>
        </p:nvSpPr>
        <p:spPr>
          <a:xfrm>
            <a:off x="6766560" y="1325880"/>
            <a:ext cx="1920240" cy="2011680"/>
          </a:xfrm>
          <a:prstGeom prst="roundRect">
            <a:avLst>
              <a:gd name="adj" fmla="val 3810"/>
            </a:avLst>
          </a:prstGeom>
          <a:solidFill>
            <a:srgbClr val="EEF2F8"/>
          </a:solidFill>
          <a:ln w="12700">
            <a:solidFill>
              <a:srgbClr val="EEF2F8"/>
            </a:solidFill>
            <a:prstDash val="solid"/>
          </a:ln>
        </p:spPr>
      </p:sp>
      <p:sp>
        <p:nvSpPr>
          <p:cNvPr id="17" name="Text 15"/>
          <p:cNvSpPr txBox="1"/>
          <p:nvPr/>
        </p:nvSpPr>
        <p:spPr>
          <a:xfrm>
            <a:off x="6766560" y="1417320"/>
            <a:ext cx="1920240" cy="685800"/>
          </a:xfrm>
          <a:prstGeom prst="rect">
            <a:avLst/>
          </a:prstGeom>
          <a:noFill/>
          <a:ln/>
        </p:spPr>
        <p:txBody>
          <a:bodyPr wrap="square" lIns="0" tIns="0" rIns="0" bIns="0" rtlCol="0" anchor="ctr"/>
          <a:lstStyle/>
          <a:p>
            <a:pPr algn="ctr" indent="0" marL="0">
              <a:buNone/>
            </a:pPr>
            <a:r>
              <a:rPr lang="en-US" sz="3600" b="1" dirty="0">
                <a:solidFill>
                  <a:srgbClr val="1F3864"/>
                </a:solidFill>
                <a:latin typeface="Cambria" pitchFamily="34" charset="0"/>
                <a:ea typeface="Cambria" pitchFamily="34" charset="-122"/>
                <a:cs typeface="Cambria" pitchFamily="34" charset="-120"/>
              </a:rPr>
              <a:t>24 %</a:t>
            </a:r>
            <a:endParaRPr lang="en-US" sz="3600" dirty="0"/>
          </a:p>
        </p:txBody>
      </p:sp>
      <p:sp>
        <p:nvSpPr>
          <p:cNvPr id="18" name="Text 16"/>
          <p:cNvSpPr txBox="1"/>
          <p:nvPr/>
        </p:nvSpPr>
        <p:spPr>
          <a:xfrm>
            <a:off x="6876288" y="2148840"/>
            <a:ext cx="1700784" cy="68580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D4 — Structuration financière &amp; LGD</a:t>
            </a:r>
            <a:endParaRPr lang="en-US" sz="1300" dirty="0"/>
          </a:p>
        </p:txBody>
      </p:sp>
      <p:sp>
        <p:nvSpPr>
          <p:cNvPr id="19" name="Text 17"/>
          <p:cNvSpPr txBox="1"/>
          <p:nvPr/>
        </p:nvSpPr>
        <p:spPr>
          <a:xfrm>
            <a:off x="6766560" y="2880360"/>
            <a:ext cx="192024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Calibri" pitchFamily="34" charset="0"/>
                <a:ea typeface="Calibri" pitchFamily="34" charset="-122"/>
                <a:cs typeface="Calibri" pitchFamily="34" charset="-120"/>
              </a:rPr>
              <a:t>9 critères</a:t>
            </a:r>
            <a:endParaRPr lang="en-US" sz="1200" dirty="0"/>
          </a:p>
        </p:txBody>
      </p:sp>
      <p:sp>
        <p:nvSpPr>
          <p:cNvPr id="20" name="Shape 18"/>
          <p:cNvSpPr/>
          <p:nvPr/>
        </p:nvSpPr>
        <p:spPr>
          <a:xfrm>
            <a:off x="457200" y="3611880"/>
            <a:ext cx="1920240" cy="685800"/>
          </a:xfrm>
          <a:prstGeom prst="roundRect">
            <a:avLst>
              <a:gd name="adj" fmla="val 8000"/>
            </a:avLst>
          </a:prstGeom>
          <a:solidFill>
            <a:srgbClr val="2E7D32"/>
          </a:solidFill>
          <a:ln w="12700">
            <a:solidFill>
              <a:srgbClr val="2E7D32"/>
            </a:solidFill>
            <a:prstDash val="solid"/>
          </a:ln>
        </p:spPr>
      </p:sp>
      <p:sp>
        <p:nvSpPr>
          <p:cNvPr id="21" name="Text 19"/>
          <p:cNvSpPr txBox="1"/>
          <p:nvPr/>
        </p:nvSpPr>
        <p:spPr>
          <a:xfrm>
            <a:off x="457200" y="3611880"/>
            <a:ext cx="192024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score final ≥ 75</a:t>
            </a:r>
            <a:endParaRPr lang="en-US" sz="1200" dirty="0"/>
          </a:p>
        </p:txBody>
      </p:sp>
      <p:sp>
        <p:nvSpPr>
          <p:cNvPr id="22" name="Shape 20"/>
          <p:cNvSpPr/>
          <p:nvPr/>
        </p:nvSpPr>
        <p:spPr>
          <a:xfrm>
            <a:off x="2560320" y="3611880"/>
            <a:ext cx="1920240" cy="685800"/>
          </a:xfrm>
          <a:prstGeom prst="roundRect">
            <a:avLst>
              <a:gd name="adj" fmla="val 8000"/>
            </a:avLst>
          </a:prstGeom>
          <a:solidFill>
            <a:srgbClr val="689F38"/>
          </a:solidFill>
          <a:ln w="12700">
            <a:solidFill>
              <a:srgbClr val="689F38"/>
            </a:solidFill>
            <a:prstDash val="solid"/>
          </a:ln>
        </p:spPr>
      </p:sp>
      <p:sp>
        <p:nvSpPr>
          <p:cNvPr id="23" name="Text 21"/>
          <p:cNvSpPr txBox="1"/>
          <p:nvPr/>
        </p:nvSpPr>
        <p:spPr>
          <a:xfrm>
            <a:off x="2560320" y="3611880"/>
            <a:ext cx="192024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 sous conditions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score final ≥ 65</a:t>
            </a:r>
            <a:endParaRPr lang="en-US" sz="1200" dirty="0"/>
          </a:p>
        </p:txBody>
      </p:sp>
      <p:sp>
        <p:nvSpPr>
          <p:cNvPr id="24" name="Shape 22"/>
          <p:cNvSpPr/>
          <p:nvPr/>
        </p:nvSpPr>
        <p:spPr>
          <a:xfrm>
            <a:off x="4663440" y="3611880"/>
            <a:ext cx="1920240" cy="685800"/>
          </a:xfrm>
          <a:prstGeom prst="roundRect">
            <a:avLst>
              <a:gd name="adj" fmla="val 8000"/>
            </a:avLst>
          </a:prstGeom>
          <a:solidFill>
            <a:srgbClr val="B45F06"/>
          </a:solidFill>
          <a:ln w="12700">
            <a:solidFill>
              <a:srgbClr val="B45F06"/>
            </a:solidFill>
            <a:prstDash val="solid"/>
          </a:ln>
        </p:spPr>
      </p:sp>
      <p:sp>
        <p:nvSpPr>
          <p:cNvPr id="25" name="Text 23"/>
          <p:cNvSpPr txBox="1"/>
          <p:nvPr/>
        </p:nvSpPr>
        <p:spPr>
          <a:xfrm>
            <a:off x="4663440" y="3611880"/>
            <a:ext cx="192024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Watch list</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score final ≥ 50</a:t>
            </a:r>
            <a:endParaRPr lang="en-US" sz="1200" dirty="0"/>
          </a:p>
        </p:txBody>
      </p:sp>
      <p:sp>
        <p:nvSpPr>
          <p:cNvPr id="26" name="Shape 24"/>
          <p:cNvSpPr/>
          <p:nvPr/>
        </p:nvSpPr>
        <p:spPr>
          <a:xfrm>
            <a:off x="6766560" y="3611880"/>
            <a:ext cx="1920240" cy="685800"/>
          </a:xfrm>
          <a:prstGeom prst="roundRect">
            <a:avLst>
              <a:gd name="adj" fmla="val 8000"/>
            </a:avLst>
          </a:prstGeom>
          <a:solidFill>
            <a:srgbClr val="C62828"/>
          </a:solidFill>
          <a:ln w="12700">
            <a:solidFill>
              <a:srgbClr val="C62828"/>
            </a:solidFill>
            <a:prstDash val="solid"/>
          </a:ln>
        </p:spPr>
      </p:sp>
      <p:sp>
        <p:nvSpPr>
          <p:cNvPr id="27" name="Text 25"/>
          <p:cNvSpPr txBox="1"/>
          <p:nvPr/>
        </p:nvSpPr>
        <p:spPr>
          <a:xfrm>
            <a:off x="6766560" y="3611880"/>
            <a:ext cx="192024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NO_GO</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score final &lt; 50</a:t>
            </a:r>
            <a:endParaRPr lang="en-US" sz="1200" dirty="0"/>
          </a:p>
        </p:txBody>
      </p:sp>
      <p:sp>
        <p:nvSpPr>
          <p:cNvPr id="28" name="Text 26"/>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100" i="1" dirty="0">
                <a:solidFill>
                  <a:srgbClr val="5F6B7A"/>
                </a:solidFill>
                <a:latin typeface="Calibri" pitchFamily="34" charset="0"/>
                <a:ea typeface="Calibri" pitchFamily="34" charset="-122"/>
                <a:cs typeface="Calibri" pitchFamily="34" charset="-120"/>
              </a:rPr>
              <a:t>Avant les seuils : contentieux, alerte bloquante, défaut avéré, donnée décisionnelle absente et critère éliminatoire décident en priorité.</a:t>
            </a:r>
            <a:endParaRPr lang="en-US" sz="1100" dirty="0"/>
          </a:p>
        </p:txBody>
      </p:sp>
      <p:sp>
        <p:nvSpPr>
          <p:cNvPr id="29" name="Text 27"/>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Votre place dans le circuit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Le chargé d'affaires monte et soumet ; la contre-étude et la délégation valident</a:t>
            </a:r>
            <a:endParaRPr lang="en-US" sz="1300" dirty="0"/>
          </a:p>
        </p:txBody>
      </p:sp>
      <p:sp>
        <p:nvSpPr>
          <p:cNvPr id="4" name="Shape 2"/>
          <p:cNvSpPr/>
          <p:nvPr/>
        </p:nvSpPr>
        <p:spPr>
          <a:xfrm>
            <a:off x="411480" y="1371600"/>
            <a:ext cx="1371600" cy="868680"/>
          </a:xfrm>
          <a:prstGeom prst="chevron">
            <a:avLst/>
          </a:prstGeom>
          <a:solidFill>
            <a:srgbClr val="C8553D"/>
          </a:solidFill>
          <a:ln w="12700">
            <a:solidFill>
              <a:srgbClr val="FFFFFF"/>
            </a:solidFill>
            <a:prstDash val="solid"/>
          </a:ln>
        </p:spPr>
      </p:sp>
      <p:sp>
        <p:nvSpPr>
          <p:cNvPr id="5" name="Text 3"/>
          <p:cNvSpPr txBox="1"/>
          <p:nvPr/>
        </p:nvSpPr>
        <p:spPr>
          <a:xfrm>
            <a:off x="713232"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Brouillon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(vous)</a:t>
            </a:r>
            <a:endParaRPr lang="en-US" sz="1000" dirty="0"/>
          </a:p>
        </p:txBody>
      </p:sp>
      <p:sp>
        <p:nvSpPr>
          <p:cNvPr id="6" name="Shape 4"/>
          <p:cNvSpPr/>
          <p:nvPr/>
        </p:nvSpPr>
        <p:spPr>
          <a:xfrm>
            <a:off x="1810512" y="1371600"/>
            <a:ext cx="1371600" cy="868680"/>
          </a:xfrm>
          <a:prstGeom prst="chevron">
            <a:avLst/>
          </a:prstGeom>
          <a:solidFill>
            <a:srgbClr val="1F3864"/>
          </a:solidFill>
          <a:ln w="12700">
            <a:solidFill>
              <a:srgbClr val="FFFFFF"/>
            </a:solidFill>
            <a:prstDash val="solid"/>
          </a:ln>
        </p:spPr>
      </p:sp>
      <p:sp>
        <p:nvSpPr>
          <p:cNvPr id="7" name="Text 5"/>
          <p:cNvSpPr txBox="1"/>
          <p:nvPr/>
        </p:nvSpPr>
        <p:spPr>
          <a:xfrm>
            <a:off x="2112264"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Avis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DCA</a:t>
            </a:r>
            <a:endParaRPr lang="en-US" sz="1000" dirty="0"/>
          </a:p>
        </p:txBody>
      </p:sp>
      <p:sp>
        <p:nvSpPr>
          <p:cNvPr id="8" name="Shape 6"/>
          <p:cNvSpPr/>
          <p:nvPr/>
        </p:nvSpPr>
        <p:spPr>
          <a:xfrm>
            <a:off x="3209544" y="1371600"/>
            <a:ext cx="1371600" cy="868680"/>
          </a:xfrm>
          <a:prstGeom prst="chevron">
            <a:avLst/>
          </a:prstGeom>
          <a:solidFill>
            <a:srgbClr val="1F3864"/>
          </a:solidFill>
          <a:ln w="12700">
            <a:solidFill>
              <a:srgbClr val="FFFFFF"/>
            </a:solidFill>
            <a:prstDash val="solid"/>
          </a:ln>
        </p:spPr>
      </p:sp>
      <p:sp>
        <p:nvSpPr>
          <p:cNvPr id="9" name="Text 7"/>
          <p:cNvSpPr txBox="1"/>
          <p:nvPr/>
        </p:nvSpPr>
        <p:spPr>
          <a:xfrm>
            <a:off x="3511296"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étude</a:t>
            </a:r>
            <a:endParaRPr lang="en-US" sz="1000" dirty="0"/>
          </a:p>
        </p:txBody>
      </p:sp>
      <p:sp>
        <p:nvSpPr>
          <p:cNvPr id="10" name="Shape 8"/>
          <p:cNvSpPr/>
          <p:nvPr/>
        </p:nvSpPr>
        <p:spPr>
          <a:xfrm>
            <a:off x="4608576" y="1371600"/>
            <a:ext cx="1371600" cy="868680"/>
          </a:xfrm>
          <a:prstGeom prst="chevron">
            <a:avLst/>
          </a:prstGeom>
          <a:solidFill>
            <a:srgbClr val="1F3864"/>
          </a:solidFill>
          <a:ln w="12700">
            <a:solidFill>
              <a:srgbClr val="FFFFFF"/>
            </a:solidFill>
            <a:prstDash val="solid"/>
          </a:ln>
        </p:spPr>
      </p:sp>
      <p:sp>
        <p:nvSpPr>
          <p:cNvPr id="11" name="Text 9"/>
          <p:cNvSpPr txBox="1"/>
          <p:nvPr/>
        </p:nvSpPr>
        <p:spPr>
          <a:xfrm>
            <a:off x="4910328"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Délé-</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gation</a:t>
            </a:r>
            <a:endParaRPr lang="en-US" sz="1000" dirty="0"/>
          </a:p>
        </p:txBody>
      </p:sp>
      <p:sp>
        <p:nvSpPr>
          <p:cNvPr id="12" name="Shape 10"/>
          <p:cNvSpPr/>
          <p:nvPr/>
        </p:nvSpPr>
        <p:spPr>
          <a:xfrm>
            <a:off x="6007608" y="1371600"/>
            <a:ext cx="1371600" cy="868680"/>
          </a:xfrm>
          <a:prstGeom prst="chevron">
            <a:avLst/>
          </a:prstGeom>
          <a:solidFill>
            <a:srgbClr val="1F3864"/>
          </a:solidFill>
          <a:ln w="12700">
            <a:solidFill>
              <a:srgbClr val="FFFFFF"/>
            </a:solidFill>
            <a:prstDash val="solid"/>
          </a:ln>
        </p:spPr>
      </p:sp>
      <p:sp>
        <p:nvSpPr>
          <p:cNvPr id="13" name="Text 11"/>
          <p:cNvSpPr txBox="1"/>
          <p:nvPr/>
        </p:nvSpPr>
        <p:spPr>
          <a:xfrm>
            <a:off x="6309360"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Comité</a:t>
            </a:r>
            <a:endParaRPr lang="en-US" sz="1000" dirty="0"/>
          </a:p>
        </p:txBody>
      </p:sp>
      <p:sp>
        <p:nvSpPr>
          <p:cNvPr id="14" name="Shape 12"/>
          <p:cNvSpPr/>
          <p:nvPr/>
        </p:nvSpPr>
        <p:spPr>
          <a:xfrm>
            <a:off x="7406640" y="1371600"/>
            <a:ext cx="1371600" cy="868680"/>
          </a:xfrm>
          <a:prstGeom prst="chevron">
            <a:avLst/>
          </a:prstGeom>
          <a:solidFill>
            <a:srgbClr val="1F3864"/>
          </a:solidFill>
          <a:ln w="12700">
            <a:solidFill>
              <a:srgbClr val="FFFFFF"/>
            </a:solidFill>
            <a:prstDash val="solid"/>
          </a:ln>
        </p:spPr>
      </p:sp>
      <p:sp>
        <p:nvSpPr>
          <p:cNvPr id="15" name="Text 13"/>
          <p:cNvSpPr txBox="1"/>
          <p:nvPr/>
        </p:nvSpPr>
        <p:spPr>
          <a:xfrm>
            <a:off x="7708392" y="1371600"/>
            <a:ext cx="841248"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Approuvé</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 rejeté</a:t>
            </a:r>
            <a:endParaRPr lang="en-US" sz="1000" dirty="0"/>
          </a:p>
        </p:txBody>
      </p:sp>
      <p:sp>
        <p:nvSpPr>
          <p:cNvPr id="16" name="Shape 14"/>
          <p:cNvSpPr/>
          <p:nvPr/>
        </p:nvSpPr>
        <p:spPr>
          <a:xfrm>
            <a:off x="457200" y="2560320"/>
            <a:ext cx="3977640" cy="2011680"/>
          </a:xfrm>
          <a:prstGeom prst="roundRect">
            <a:avLst>
              <a:gd name="adj" fmla="val 3636"/>
            </a:avLst>
          </a:prstGeom>
          <a:solidFill>
            <a:srgbClr val="EEF2F8"/>
          </a:solidFill>
          <a:ln w="12700">
            <a:solidFill>
              <a:srgbClr val="EEF2F8"/>
            </a:solidFill>
            <a:prstDash val="solid"/>
          </a:ln>
        </p:spPr>
      </p:sp>
      <p:sp>
        <p:nvSpPr>
          <p:cNvPr id="17" name="Shape 15"/>
          <p:cNvSpPr/>
          <p:nvPr/>
        </p:nvSpPr>
        <p:spPr>
          <a:xfrm>
            <a:off x="4709160" y="2560320"/>
            <a:ext cx="3977640" cy="2011680"/>
          </a:xfrm>
          <a:prstGeom prst="roundRect">
            <a:avLst>
              <a:gd name="adj" fmla="val 3636"/>
            </a:avLst>
          </a:prstGeom>
          <a:solidFill>
            <a:srgbClr val="EEF2F8"/>
          </a:solidFill>
          <a:ln w="12700">
            <a:solidFill>
              <a:srgbClr val="EEF2F8"/>
            </a:solidFill>
            <a:prstDash val="solid"/>
          </a:ln>
        </p:spPr>
      </p:sp>
      <p:sp>
        <p:nvSpPr>
          <p:cNvPr id="18" name="Shape 16"/>
          <p:cNvSpPr/>
          <p:nvPr/>
        </p:nvSpPr>
        <p:spPr>
          <a:xfrm>
            <a:off x="640080" y="2697480"/>
            <a:ext cx="411480" cy="411480"/>
          </a:xfrm>
          <a:prstGeom prst="ellipse">
            <a:avLst/>
          </a:prstGeom>
          <a:solidFill>
            <a:srgbClr val="2E7D32"/>
          </a:solidFill>
          <a:ln w="12700">
            <a:solidFill>
              <a:srgbClr val="2E7D32"/>
            </a:solidFill>
            <a:prstDash val="solid"/>
          </a:ln>
        </p:spPr>
      </p:sp>
      <p:pic>
        <p:nvPicPr>
          <p:cNvPr id="19" name="Image 0" descr="preencoded.png">    </p:cNvPr>
          <p:cNvPicPr>
            <a:picLocks noChangeAspect="1"/>
          </p:cNvPicPr>
          <p:nvPr/>
        </p:nvPicPr>
        <p:blipFill>
          <a:blip r:embed="rId1"/>
          <a:stretch>
            <a:fillRect/>
          </a:stretch>
        </p:blipFill>
        <p:spPr>
          <a:xfrm>
            <a:off x="742950" y="2800350"/>
            <a:ext cx="205740" cy="205740"/>
          </a:xfrm>
          <a:prstGeom prst="rect">
            <a:avLst/>
          </a:prstGeom>
        </p:spPr>
      </p:pic>
      <p:sp>
        <p:nvSpPr>
          <p:cNvPr id="20" name="Shape 17"/>
          <p:cNvSpPr/>
          <p:nvPr/>
        </p:nvSpPr>
        <p:spPr>
          <a:xfrm>
            <a:off x="4892040" y="2697480"/>
            <a:ext cx="411480" cy="411480"/>
          </a:xfrm>
          <a:prstGeom prst="ellipse">
            <a:avLst/>
          </a:prstGeom>
          <a:solidFill>
            <a:srgbClr val="C62828"/>
          </a:solidFill>
          <a:ln w="12700">
            <a:solidFill>
              <a:srgbClr val="C62828"/>
            </a:solidFill>
            <a:prstDash val="solid"/>
          </a:ln>
        </p:spPr>
      </p:sp>
      <p:pic>
        <p:nvPicPr>
          <p:cNvPr id="21" name="Image 1" descr="preencoded.png">    </p:cNvPr>
          <p:cNvPicPr>
            <a:picLocks noChangeAspect="1"/>
          </p:cNvPicPr>
          <p:nvPr/>
        </p:nvPicPr>
        <p:blipFill>
          <a:blip r:embed="rId2"/>
          <a:stretch>
            <a:fillRect/>
          </a:stretch>
        </p:blipFill>
        <p:spPr>
          <a:xfrm>
            <a:off x="4994910" y="2800350"/>
            <a:ext cx="205740" cy="205740"/>
          </a:xfrm>
          <a:prstGeom prst="rect">
            <a:avLst/>
          </a:prstGeom>
        </p:spPr>
      </p:pic>
      <p:sp>
        <p:nvSpPr>
          <p:cNvPr id="22" name="Text 18"/>
          <p:cNvSpPr txBox="1"/>
          <p:nvPr/>
        </p:nvSpPr>
        <p:spPr>
          <a:xfrm>
            <a:off x="1188720" y="2724912"/>
            <a:ext cx="310896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Vous faites</a:t>
            </a:r>
            <a:endParaRPr lang="en-US" sz="1500" dirty="0"/>
          </a:p>
        </p:txBody>
      </p:sp>
      <p:sp>
        <p:nvSpPr>
          <p:cNvPr id="23" name="Text 19"/>
          <p:cNvSpPr txBox="1"/>
          <p:nvPr/>
        </p:nvSpPr>
        <p:spPr>
          <a:xfrm>
            <a:off x="5440680" y="2724912"/>
            <a:ext cx="310896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Vous ne faites pas</a:t>
            </a:r>
            <a:endParaRPr lang="en-US" sz="1500" dirty="0"/>
          </a:p>
        </p:txBody>
      </p:sp>
      <p:sp>
        <p:nvSpPr>
          <p:cNvPr id="24" name="Text 20"/>
          <p:cNvSpPr txBox="1"/>
          <p:nvPr/>
        </p:nvSpPr>
        <p:spPr>
          <a:xfrm>
            <a:off x="685800" y="3200400"/>
            <a:ext cx="3611880" cy="128016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Créer promoteur et projet</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Renseigner le suivi et la saisie</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Synchroniser et calculer le score</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Soumettre ; reprendre un dossier renvoyé</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Exporter le dossier de comité</a:t>
            </a:r>
            <a:endParaRPr lang="en-US" sz="1200" dirty="0"/>
          </a:p>
        </p:txBody>
      </p:sp>
      <p:sp>
        <p:nvSpPr>
          <p:cNvPr id="25" name="Text 21"/>
          <p:cNvSpPr txBox="1"/>
          <p:nvPr/>
        </p:nvSpPr>
        <p:spPr>
          <a:xfrm>
            <a:off x="4937760" y="3200400"/>
            <a:ext cx="3611880" cy="128016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Valider un score (contre-étude)</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Décider ou approuver (délégation, comité)</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Importer un portefeuille (Risque)</a:t>
            </a:r>
            <a:endParaRPr lang="en-US" sz="1200" dirty="0"/>
          </a:p>
          <a:p>
            <a:pPr marL="342900" indent="-342900">
              <a:spcAft>
                <a:spcPts val="300"/>
              </a:spcAft>
              <a:buSzPct val="100000"/>
              <a:buChar char="•"/>
            </a:pPr>
            <a:r>
              <a:rPr lang="en-US" sz="1200" dirty="0">
                <a:solidFill>
                  <a:srgbClr val="2B2B2B"/>
                </a:solidFill>
                <a:latin typeface="Calibri" pitchFamily="34" charset="0"/>
                <a:ea typeface="Calibri" pitchFamily="34" charset="-122"/>
                <a:cs typeface="Calibri" pitchFamily="34" charset="-120"/>
              </a:rPr>
              <a:t>Modifier le modèle ou les référentiels</a:t>
            </a:r>
            <a:endParaRPr lang="en-US" sz="1200" dirty="0"/>
          </a:p>
        </p:txBody>
      </p:sp>
      <p:sp>
        <p:nvSpPr>
          <p:cNvPr id="26" name="Text 22"/>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 parcours en 10 étapes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De la collecte des pièces à la soumission</a:t>
            </a:r>
            <a:endParaRPr lang="en-US" sz="1300" dirty="0"/>
          </a:p>
        </p:txBody>
      </p:sp>
      <p:sp>
        <p:nvSpPr>
          <p:cNvPr id="4" name="Shape 2"/>
          <p:cNvSpPr/>
          <p:nvPr/>
        </p:nvSpPr>
        <p:spPr>
          <a:xfrm>
            <a:off x="457200" y="1325880"/>
            <a:ext cx="1536192" cy="1417320"/>
          </a:xfrm>
          <a:prstGeom prst="roundRect">
            <a:avLst>
              <a:gd name="adj" fmla="val 5161"/>
            </a:avLst>
          </a:prstGeom>
          <a:solidFill>
            <a:srgbClr val="EEF2F8"/>
          </a:solidFill>
          <a:ln w="12700">
            <a:solidFill>
              <a:srgbClr val="EEF2F8"/>
            </a:solidFill>
            <a:prstDash val="solid"/>
          </a:ln>
        </p:spPr>
      </p:sp>
      <p:sp>
        <p:nvSpPr>
          <p:cNvPr id="5" name="Shape 3"/>
          <p:cNvSpPr/>
          <p:nvPr/>
        </p:nvSpPr>
        <p:spPr>
          <a:xfrm>
            <a:off x="996696" y="1453896"/>
            <a:ext cx="457200" cy="457200"/>
          </a:xfrm>
          <a:prstGeom prst="ellipse">
            <a:avLst/>
          </a:prstGeom>
          <a:solidFill>
            <a:srgbClr val="1F3864"/>
          </a:solidFill>
          <a:ln w="12700">
            <a:solidFill>
              <a:srgbClr val="1F3864"/>
            </a:solidFill>
            <a:prstDash val="solid"/>
          </a:ln>
        </p:spPr>
      </p:sp>
      <p:sp>
        <p:nvSpPr>
          <p:cNvPr id="6" name="Text 4"/>
          <p:cNvSpPr txBox="1"/>
          <p:nvPr/>
        </p:nvSpPr>
        <p:spPr>
          <a:xfrm>
            <a:off x="996696" y="1453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530352" y="198424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Pièces</a:t>
            </a:r>
            <a:endParaRPr lang="en-US" sz="1300" dirty="0"/>
          </a:p>
        </p:txBody>
      </p:sp>
      <p:sp>
        <p:nvSpPr>
          <p:cNvPr id="8" name="Text 6"/>
          <p:cNvSpPr txBox="1"/>
          <p:nvPr/>
        </p:nvSpPr>
        <p:spPr>
          <a:xfrm>
            <a:off x="530352" y="227685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Check-list, annexe A</a:t>
            </a:r>
            <a:endParaRPr lang="en-US" sz="1050" dirty="0"/>
          </a:p>
        </p:txBody>
      </p:sp>
      <p:sp>
        <p:nvSpPr>
          <p:cNvPr id="9" name="Shape 7"/>
          <p:cNvSpPr/>
          <p:nvPr/>
        </p:nvSpPr>
        <p:spPr>
          <a:xfrm>
            <a:off x="2130552" y="1325880"/>
            <a:ext cx="1536192" cy="1417320"/>
          </a:xfrm>
          <a:prstGeom prst="roundRect">
            <a:avLst>
              <a:gd name="adj" fmla="val 5161"/>
            </a:avLst>
          </a:prstGeom>
          <a:solidFill>
            <a:srgbClr val="EEF2F8"/>
          </a:solidFill>
          <a:ln w="12700">
            <a:solidFill>
              <a:srgbClr val="EEF2F8"/>
            </a:solidFill>
            <a:prstDash val="solid"/>
          </a:ln>
        </p:spPr>
      </p:sp>
      <p:sp>
        <p:nvSpPr>
          <p:cNvPr id="10" name="Shape 8"/>
          <p:cNvSpPr/>
          <p:nvPr/>
        </p:nvSpPr>
        <p:spPr>
          <a:xfrm>
            <a:off x="2670048" y="1453896"/>
            <a:ext cx="457200" cy="457200"/>
          </a:xfrm>
          <a:prstGeom prst="ellipse">
            <a:avLst/>
          </a:prstGeom>
          <a:solidFill>
            <a:srgbClr val="1F3864"/>
          </a:solidFill>
          <a:ln w="12700">
            <a:solidFill>
              <a:srgbClr val="1F3864"/>
            </a:solidFill>
            <a:prstDash val="solid"/>
          </a:ln>
        </p:spPr>
      </p:sp>
      <p:sp>
        <p:nvSpPr>
          <p:cNvPr id="11" name="Text 9"/>
          <p:cNvSpPr txBox="1"/>
          <p:nvPr/>
        </p:nvSpPr>
        <p:spPr>
          <a:xfrm>
            <a:off x="2670048" y="1453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203704" y="198424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Promoteur</a:t>
            </a:r>
            <a:endParaRPr lang="en-US" sz="1300" dirty="0"/>
          </a:p>
        </p:txBody>
      </p:sp>
      <p:sp>
        <p:nvSpPr>
          <p:cNvPr id="13" name="Text 11"/>
          <p:cNvSpPr txBox="1"/>
          <p:nvPr/>
        </p:nvSpPr>
        <p:spPr>
          <a:xfrm>
            <a:off x="2203704" y="227685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Signalétique, groupe</a:t>
            </a:r>
            <a:endParaRPr lang="en-US" sz="1050" dirty="0"/>
          </a:p>
        </p:txBody>
      </p:sp>
      <p:sp>
        <p:nvSpPr>
          <p:cNvPr id="14" name="Shape 12"/>
          <p:cNvSpPr/>
          <p:nvPr/>
        </p:nvSpPr>
        <p:spPr>
          <a:xfrm>
            <a:off x="3803904" y="1325880"/>
            <a:ext cx="1536192" cy="1417320"/>
          </a:xfrm>
          <a:prstGeom prst="roundRect">
            <a:avLst>
              <a:gd name="adj" fmla="val 5161"/>
            </a:avLst>
          </a:prstGeom>
          <a:solidFill>
            <a:srgbClr val="EEF2F8"/>
          </a:solidFill>
          <a:ln w="12700">
            <a:solidFill>
              <a:srgbClr val="EEF2F8"/>
            </a:solidFill>
            <a:prstDash val="solid"/>
          </a:ln>
        </p:spPr>
      </p:sp>
      <p:sp>
        <p:nvSpPr>
          <p:cNvPr id="15" name="Shape 13"/>
          <p:cNvSpPr/>
          <p:nvPr/>
        </p:nvSpPr>
        <p:spPr>
          <a:xfrm>
            <a:off x="4343400" y="1453896"/>
            <a:ext cx="457200" cy="457200"/>
          </a:xfrm>
          <a:prstGeom prst="ellipse">
            <a:avLst/>
          </a:prstGeom>
          <a:solidFill>
            <a:srgbClr val="1F3864"/>
          </a:solidFill>
          <a:ln w="12700">
            <a:solidFill>
              <a:srgbClr val="1F3864"/>
            </a:solidFill>
            <a:prstDash val="solid"/>
          </a:ln>
        </p:spPr>
      </p:sp>
      <p:sp>
        <p:nvSpPr>
          <p:cNvPr id="16" name="Text 14"/>
          <p:cNvSpPr txBox="1"/>
          <p:nvPr/>
        </p:nvSpPr>
        <p:spPr>
          <a:xfrm>
            <a:off x="4343400" y="1453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3877056" y="198424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Projet</a:t>
            </a:r>
            <a:endParaRPr lang="en-US" sz="1300" dirty="0"/>
          </a:p>
        </p:txBody>
      </p:sp>
      <p:sp>
        <p:nvSpPr>
          <p:cNvPr id="18" name="Text 16"/>
          <p:cNvSpPr txBox="1"/>
          <p:nvPr/>
        </p:nvSpPr>
        <p:spPr>
          <a:xfrm>
            <a:off x="3877056" y="227685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Segment, zone, montants</a:t>
            </a:r>
            <a:endParaRPr lang="en-US" sz="1050" dirty="0"/>
          </a:p>
        </p:txBody>
      </p:sp>
      <p:sp>
        <p:nvSpPr>
          <p:cNvPr id="19" name="Shape 17"/>
          <p:cNvSpPr/>
          <p:nvPr/>
        </p:nvSpPr>
        <p:spPr>
          <a:xfrm>
            <a:off x="5477256" y="1325880"/>
            <a:ext cx="1536192" cy="1417320"/>
          </a:xfrm>
          <a:prstGeom prst="roundRect">
            <a:avLst>
              <a:gd name="adj" fmla="val 5161"/>
            </a:avLst>
          </a:prstGeom>
          <a:solidFill>
            <a:srgbClr val="EEF2F8"/>
          </a:solidFill>
          <a:ln w="12700">
            <a:solidFill>
              <a:srgbClr val="EEF2F8"/>
            </a:solidFill>
            <a:prstDash val="solid"/>
          </a:ln>
        </p:spPr>
      </p:sp>
      <p:sp>
        <p:nvSpPr>
          <p:cNvPr id="20" name="Shape 18"/>
          <p:cNvSpPr/>
          <p:nvPr/>
        </p:nvSpPr>
        <p:spPr>
          <a:xfrm>
            <a:off x="6016752" y="1453896"/>
            <a:ext cx="457200" cy="457200"/>
          </a:xfrm>
          <a:prstGeom prst="ellipse">
            <a:avLst/>
          </a:prstGeom>
          <a:solidFill>
            <a:srgbClr val="1F3864"/>
          </a:solidFill>
          <a:ln w="12700">
            <a:solidFill>
              <a:srgbClr val="1F3864"/>
            </a:solidFill>
            <a:prstDash val="solid"/>
          </a:ln>
        </p:spPr>
      </p:sp>
      <p:sp>
        <p:nvSpPr>
          <p:cNvPr id="21" name="Text 19"/>
          <p:cNvSpPr txBox="1"/>
          <p:nvPr/>
        </p:nvSpPr>
        <p:spPr>
          <a:xfrm>
            <a:off x="6016752" y="1453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5550408" y="198424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Suivi</a:t>
            </a:r>
            <a:endParaRPr lang="en-US" sz="1300" dirty="0"/>
          </a:p>
        </p:txBody>
      </p:sp>
      <p:sp>
        <p:nvSpPr>
          <p:cNvPr id="23" name="Text 21"/>
          <p:cNvSpPr txBox="1"/>
          <p:nvPr/>
        </p:nvSpPr>
        <p:spPr>
          <a:xfrm>
            <a:off x="5550408" y="227685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Autorisations, lots, facilités</a:t>
            </a:r>
            <a:endParaRPr lang="en-US" sz="1050" dirty="0"/>
          </a:p>
        </p:txBody>
      </p:sp>
      <p:sp>
        <p:nvSpPr>
          <p:cNvPr id="24" name="Shape 22"/>
          <p:cNvSpPr/>
          <p:nvPr/>
        </p:nvSpPr>
        <p:spPr>
          <a:xfrm>
            <a:off x="7150608" y="1325880"/>
            <a:ext cx="1536192" cy="1417320"/>
          </a:xfrm>
          <a:prstGeom prst="roundRect">
            <a:avLst>
              <a:gd name="adj" fmla="val 5161"/>
            </a:avLst>
          </a:prstGeom>
          <a:solidFill>
            <a:srgbClr val="EEF2F8"/>
          </a:solidFill>
          <a:ln w="12700">
            <a:solidFill>
              <a:srgbClr val="EEF2F8"/>
            </a:solidFill>
            <a:prstDash val="solid"/>
          </a:ln>
        </p:spPr>
      </p:sp>
      <p:sp>
        <p:nvSpPr>
          <p:cNvPr id="25" name="Shape 23"/>
          <p:cNvSpPr/>
          <p:nvPr/>
        </p:nvSpPr>
        <p:spPr>
          <a:xfrm>
            <a:off x="7690104" y="1453896"/>
            <a:ext cx="457200" cy="457200"/>
          </a:xfrm>
          <a:prstGeom prst="ellipse">
            <a:avLst/>
          </a:prstGeom>
          <a:solidFill>
            <a:srgbClr val="1F3864"/>
          </a:solidFill>
          <a:ln w="12700">
            <a:solidFill>
              <a:srgbClr val="1F3864"/>
            </a:solidFill>
            <a:prstDash val="solid"/>
          </a:ln>
        </p:spPr>
      </p:sp>
      <p:sp>
        <p:nvSpPr>
          <p:cNvPr id="26" name="Text 24"/>
          <p:cNvSpPr txBox="1"/>
          <p:nvPr/>
        </p:nvSpPr>
        <p:spPr>
          <a:xfrm>
            <a:off x="7690104" y="1453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7223760" y="198424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Saisie</a:t>
            </a:r>
            <a:endParaRPr lang="en-US" sz="1300" dirty="0"/>
          </a:p>
        </p:txBody>
      </p:sp>
      <p:sp>
        <p:nvSpPr>
          <p:cNvPr id="28" name="Text 26"/>
          <p:cNvSpPr txBox="1"/>
          <p:nvPr/>
        </p:nvSpPr>
        <p:spPr>
          <a:xfrm>
            <a:off x="7223760" y="227685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Wizard 7 étapes, lecture IA</a:t>
            </a:r>
            <a:endParaRPr lang="en-US" sz="1050" dirty="0"/>
          </a:p>
        </p:txBody>
      </p:sp>
      <p:sp>
        <p:nvSpPr>
          <p:cNvPr id="29" name="Shape 27"/>
          <p:cNvSpPr/>
          <p:nvPr/>
        </p:nvSpPr>
        <p:spPr>
          <a:xfrm>
            <a:off x="457200" y="2971800"/>
            <a:ext cx="1536192" cy="1417320"/>
          </a:xfrm>
          <a:prstGeom prst="roundRect">
            <a:avLst>
              <a:gd name="adj" fmla="val 5161"/>
            </a:avLst>
          </a:prstGeom>
          <a:solidFill>
            <a:srgbClr val="EEF2F8"/>
          </a:solidFill>
          <a:ln w="12700">
            <a:solidFill>
              <a:srgbClr val="EEF2F8"/>
            </a:solidFill>
            <a:prstDash val="solid"/>
          </a:ln>
        </p:spPr>
      </p:sp>
      <p:sp>
        <p:nvSpPr>
          <p:cNvPr id="30" name="Shape 28"/>
          <p:cNvSpPr/>
          <p:nvPr/>
        </p:nvSpPr>
        <p:spPr>
          <a:xfrm>
            <a:off x="996696" y="3099816"/>
            <a:ext cx="457200" cy="457200"/>
          </a:xfrm>
          <a:prstGeom prst="ellipse">
            <a:avLst/>
          </a:prstGeom>
          <a:solidFill>
            <a:srgbClr val="C8553D"/>
          </a:solidFill>
          <a:ln w="12700">
            <a:solidFill>
              <a:srgbClr val="C8553D"/>
            </a:solidFill>
            <a:prstDash val="solid"/>
          </a:ln>
        </p:spPr>
      </p:sp>
      <p:sp>
        <p:nvSpPr>
          <p:cNvPr id="31" name="Text 29"/>
          <p:cNvSpPr txBox="1"/>
          <p:nvPr/>
        </p:nvSpPr>
        <p:spPr>
          <a:xfrm>
            <a:off x="996696"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530352" y="363016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Synchroniser</a:t>
            </a:r>
            <a:endParaRPr lang="en-US" sz="1300" dirty="0"/>
          </a:p>
        </p:txBody>
      </p:sp>
      <p:sp>
        <p:nvSpPr>
          <p:cNvPr id="33" name="Text 31"/>
          <p:cNvSpPr txBox="1"/>
          <p:nvPr/>
        </p:nvSpPr>
        <p:spPr>
          <a:xfrm>
            <a:off x="530352" y="392277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Données du suivi reportées</a:t>
            </a:r>
            <a:endParaRPr lang="en-US" sz="1050" dirty="0"/>
          </a:p>
        </p:txBody>
      </p:sp>
      <p:sp>
        <p:nvSpPr>
          <p:cNvPr id="34" name="Shape 32"/>
          <p:cNvSpPr/>
          <p:nvPr/>
        </p:nvSpPr>
        <p:spPr>
          <a:xfrm>
            <a:off x="2130552" y="2971800"/>
            <a:ext cx="1536192" cy="1417320"/>
          </a:xfrm>
          <a:prstGeom prst="roundRect">
            <a:avLst>
              <a:gd name="adj" fmla="val 5161"/>
            </a:avLst>
          </a:prstGeom>
          <a:solidFill>
            <a:srgbClr val="EEF2F8"/>
          </a:solidFill>
          <a:ln w="12700">
            <a:solidFill>
              <a:srgbClr val="EEF2F8"/>
            </a:solidFill>
            <a:prstDash val="solid"/>
          </a:ln>
        </p:spPr>
      </p:sp>
      <p:sp>
        <p:nvSpPr>
          <p:cNvPr id="35" name="Shape 33"/>
          <p:cNvSpPr/>
          <p:nvPr/>
        </p:nvSpPr>
        <p:spPr>
          <a:xfrm>
            <a:off x="2670048" y="3099816"/>
            <a:ext cx="457200" cy="457200"/>
          </a:xfrm>
          <a:prstGeom prst="ellipse">
            <a:avLst/>
          </a:prstGeom>
          <a:solidFill>
            <a:srgbClr val="1F3864"/>
          </a:solidFill>
          <a:ln w="12700">
            <a:solidFill>
              <a:srgbClr val="1F3864"/>
            </a:solidFill>
            <a:prstDash val="solid"/>
          </a:ln>
        </p:spPr>
      </p:sp>
      <p:sp>
        <p:nvSpPr>
          <p:cNvPr id="36" name="Text 34"/>
          <p:cNvSpPr txBox="1"/>
          <p:nvPr/>
        </p:nvSpPr>
        <p:spPr>
          <a:xfrm>
            <a:off x="2670048"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txBox="1"/>
          <p:nvPr/>
        </p:nvSpPr>
        <p:spPr>
          <a:xfrm>
            <a:off x="2203704" y="363016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Calculer</a:t>
            </a:r>
            <a:endParaRPr lang="en-US" sz="1300" dirty="0"/>
          </a:p>
        </p:txBody>
      </p:sp>
      <p:sp>
        <p:nvSpPr>
          <p:cNvPr id="38" name="Text 36"/>
          <p:cNvSpPr txBox="1"/>
          <p:nvPr/>
        </p:nvSpPr>
        <p:spPr>
          <a:xfrm>
            <a:off x="2203704" y="392277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Classe, score, provision</a:t>
            </a:r>
            <a:endParaRPr lang="en-US" sz="1050" dirty="0"/>
          </a:p>
        </p:txBody>
      </p:sp>
      <p:sp>
        <p:nvSpPr>
          <p:cNvPr id="39" name="Shape 37"/>
          <p:cNvSpPr/>
          <p:nvPr/>
        </p:nvSpPr>
        <p:spPr>
          <a:xfrm>
            <a:off x="3803904" y="2971800"/>
            <a:ext cx="1536192" cy="1417320"/>
          </a:xfrm>
          <a:prstGeom prst="roundRect">
            <a:avLst>
              <a:gd name="adj" fmla="val 5161"/>
            </a:avLst>
          </a:prstGeom>
          <a:solidFill>
            <a:srgbClr val="EEF2F8"/>
          </a:solidFill>
          <a:ln w="12700">
            <a:solidFill>
              <a:srgbClr val="EEF2F8"/>
            </a:solidFill>
            <a:prstDash val="solid"/>
          </a:ln>
        </p:spPr>
      </p:sp>
      <p:sp>
        <p:nvSpPr>
          <p:cNvPr id="40" name="Shape 38"/>
          <p:cNvSpPr/>
          <p:nvPr/>
        </p:nvSpPr>
        <p:spPr>
          <a:xfrm>
            <a:off x="4343400" y="3099816"/>
            <a:ext cx="457200" cy="457200"/>
          </a:xfrm>
          <a:prstGeom prst="ellipse">
            <a:avLst/>
          </a:prstGeom>
          <a:solidFill>
            <a:srgbClr val="1F3864"/>
          </a:solidFill>
          <a:ln w="12700">
            <a:solidFill>
              <a:srgbClr val="1F3864"/>
            </a:solidFill>
            <a:prstDash val="solid"/>
          </a:ln>
        </p:spPr>
      </p:sp>
      <p:sp>
        <p:nvSpPr>
          <p:cNvPr id="41" name="Text 39"/>
          <p:cNvSpPr txBox="1"/>
          <p:nvPr/>
        </p:nvSpPr>
        <p:spPr>
          <a:xfrm>
            <a:off x="4343400"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40"/>
          <p:cNvSpPr txBox="1"/>
          <p:nvPr/>
        </p:nvSpPr>
        <p:spPr>
          <a:xfrm>
            <a:off x="3877056" y="363016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Lire</a:t>
            </a:r>
            <a:endParaRPr lang="en-US" sz="1300" dirty="0"/>
          </a:p>
        </p:txBody>
      </p:sp>
      <p:sp>
        <p:nvSpPr>
          <p:cNvPr id="43" name="Text 41"/>
          <p:cNvSpPr txBox="1"/>
          <p:nvPr/>
        </p:nvSpPr>
        <p:spPr>
          <a:xfrm>
            <a:off x="3877056" y="392277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Encart de lecture du résultat</a:t>
            </a:r>
            <a:endParaRPr lang="en-US" sz="1050" dirty="0"/>
          </a:p>
        </p:txBody>
      </p:sp>
      <p:sp>
        <p:nvSpPr>
          <p:cNvPr id="44" name="Shape 42"/>
          <p:cNvSpPr/>
          <p:nvPr/>
        </p:nvSpPr>
        <p:spPr>
          <a:xfrm>
            <a:off x="5477256" y="2971800"/>
            <a:ext cx="1536192" cy="1417320"/>
          </a:xfrm>
          <a:prstGeom prst="roundRect">
            <a:avLst>
              <a:gd name="adj" fmla="val 5161"/>
            </a:avLst>
          </a:prstGeom>
          <a:solidFill>
            <a:srgbClr val="EEF2F8"/>
          </a:solidFill>
          <a:ln w="12700">
            <a:solidFill>
              <a:srgbClr val="EEF2F8"/>
            </a:solidFill>
            <a:prstDash val="solid"/>
          </a:ln>
        </p:spPr>
      </p:sp>
      <p:sp>
        <p:nvSpPr>
          <p:cNvPr id="45" name="Shape 43"/>
          <p:cNvSpPr/>
          <p:nvPr/>
        </p:nvSpPr>
        <p:spPr>
          <a:xfrm>
            <a:off x="6016752" y="3099816"/>
            <a:ext cx="457200" cy="457200"/>
          </a:xfrm>
          <a:prstGeom prst="ellipse">
            <a:avLst/>
          </a:prstGeom>
          <a:solidFill>
            <a:srgbClr val="1F3864"/>
          </a:solidFill>
          <a:ln w="12700">
            <a:solidFill>
              <a:srgbClr val="1F3864"/>
            </a:solidFill>
            <a:prstDash val="solid"/>
          </a:ln>
        </p:spPr>
      </p:sp>
      <p:sp>
        <p:nvSpPr>
          <p:cNvPr id="46" name="Text 44"/>
          <p:cNvSpPr txBox="1"/>
          <p:nvPr/>
        </p:nvSpPr>
        <p:spPr>
          <a:xfrm>
            <a:off x="6016752"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7" name="Text 45"/>
          <p:cNvSpPr txBox="1"/>
          <p:nvPr/>
        </p:nvSpPr>
        <p:spPr>
          <a:xfrm>
            <a:off x="5550408" y="363016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Compléter</a:t>
            </a:r>
            <a:endParaRPr lang="en-US" sz="1300" dirty="0"/>
          </a:p>
        </p:txBody>
      </p:sp>
      <p:sp>
        <p:nvSpPr>
          <p:cNvPr id="48" name="Text 46"/>
          <p:cNvSpPr txBox="1"/>
          <p:nvPr/>
        </p:nvSpPr>
        <p:spPr>
          <a:xfrm>
            <a:off x="5550408" y="392277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Pièces, mitigants, conditions</a:t>
            </a:r>
            <a:endParaRPr lang="en-US" sz="1050" dirty="0"/>
          </a:p>
        </p:txBody>
      </p:sp>
      <p:sp>
        <p:nvSpPr>
          <p:cNvPr id="49" name="Shape 47"/>
          <p:cNvSpPr/>
          <p:nvPr/>
        </p:nvSpPr>
        <p:spPr>
          <a:xfrm>
            <a:off x="7150608" y="2971800"/>
            <a:ext cx="1536192" cy="1417320"/>
          </a:xfrm>
          <a:prstGeom prst="roundRect">
            <a:avLst>
              <a:gd name="adj" fmla="val 5161"/>
            </a:avLst>
          </a:prstGeom>
          <a:solidFill>
            <a:srgbClr val="EEF2F8"/>
          </a:solidFill>
          <a:ln w="12700">
            <a:solidFill>
              <a:srgbClr val="EEF2F8"/>
            </a:solidFill>
            <a:prstDash val="solid"/>
          </a:ln>
        </p:spPr>
      </p:sp>
      <p:sp>
        <p:nvSpPr>
          <p:cNvPr id="50" name="Shape 48"/>
          <p:cNvSpPr/>
          <p:nvPr/>
        </p:nvSpPr>
        <p:spPr>
          <a:xfrm>
            <a:off x="7690104" y="3099816"/>
            <a:ext cx="457200" cy="457200"/>
          </a:xfrm>
          <a:prstGeom prst="ellipse">
            <a:avLst/>
          </a:prstGeom>
          <a:solidFill>
            <a:srgbClr val="1F3864"/>
          </a:solidFill>
          <a:ln w="12700">
            <a:solidFill>
              <a:srgbClr val="1F3864"/>
            </a:solidFill>
            <a:prstDash val="solid"/>
          </a:ln>
        </p:spPr>
      </p:sp>
      <p:sp>
        <p:nvSpPr>
          <p:cNvPr id="51" name="Text 49"/>
          <p:cNvSpPr txBox="1"/>
          <p:nvPr/>
        </p:nvSpPr>
        <p:spPr>
          <a:xfrm>
            <a:off x="7690104"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2" name="Text 50"/>
          <p:cNvSpPr txBox="1"/>
          <p:nvPr/>
        </p:nvSpPr>
        <p:spPr>
          <a:xfrm>
            <a:off x="7223760" y="3630168"/>
            <a:ext cx="1389888" cy="292608"/>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Soumettre</a:t>
            </a:r>
            <a:endParaRPr lang="en-US" sz="1300" dirty="0"/>
          </a:p>
        </p:txBody>
      </p:sp>
      <p:sp>
        <p:nvSpPr>
          <p:cNvPr id="53" name="Text 51"/>
          <p:cNvSpPr txBox="1"/>
          <p:nvPr/>
        </p:nvSpPr>
        <p:spPr>
          <a:xfrm>
            <a:off x="7223760" y="3922776"/>
            <a:ext cx="1389888" cy="384048"/>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Avis, contre-étude, décision</a:t>
            </a:r>
            <a:endParaRPr lang="en-US" sz="1050" dirty="0"/>
          </a:p>
        </p:txBody>
      </p:sp>
      <p:sp>
        <p:nvSpPr>
          <p:cNvPr id="54" name="Text 52"/>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Les pièces à réunir : six familles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37 pièces de référence — liste complète et check-list dans le guide Word</a:t>
            </a:r>
            <a:endParaRPr lang="en-US" sz="1300" dirty="0"/>
          </a:p>
        </p:txBody>
      </p:sp>
      <p:sp>
        <p:nvSpPr>
          <p:cNvPr id="4" name="Shape 2"/>
          <p:cNvSpPr/>
          <p:nvPr/>
        </p:nvSpPr>
        <p:spPr>
          <a:xfrm>
            <a:off x="457200" y="1325880"/>
            <a:ext cx="2651760" cy="1554480"/>
          </a:xfrm>
          <a:prstGeom prst="roundRect">
            <a:avLst>
              <a:gd name="adj" fmla="val 4706"/>
            </a:avLst>
          </a:prstGeom>
          <a:solidFill>
            <a:srgbClr val="EEF2F8"/>
          </a:solidFill>
          <a:ln w="12700">
            <a:solidFill>
              <a:srgbClr val="EEF2F8"/>
            </a:solidFill>
            <a:prstDash val="solid"/>
          </a:ln>
        </p:spPr>
      </p:sp>
      <p:sp>
        <p:nvSpPr>
          <p:cNvPr id="5" name="Shape 3"/>
          <p:cNvSpPr/>
          <p:nvPr/>
        </p:nvSpPr>
        <p:spPr>
          <a:xfrm>
            <a:off x="594360" y="1463040"/>
            <a:ext cx="502920" cy="502920"/>
          </a:xfrm>
          <a:prstGeom prst="ellipse">
            <a:avLst/>
          </a:prstGeom>
          <a:solidFill>
            <a:srgbClr val="1F3864"/>
          </a:solidFill>
          <a:ln w="12700">
            <a:solidFill>
              <a:srgbClr val="1F3864"/>
            </a:solidFill>
            <a:prstDash val="solid"/>
          </a:ln>
        </p:spPr>
      </p:sp>
      <p:pic>
        <p:nvPicPr>
          <p:cNvPr id="6" name="Image 0" descr="preencoded.png">    </p:cNvPr>
          <p:cNvPicPr>
            <a:picLocks noChangeAspect="1"/>
          </p:cNvPicPr>
          <p:nvPr/>
        </p:nvPicPr>
        <p:blipFill>
          <a:blip r:embed="rId1"/>
          <a:stretch>
            <a:fillRect/>
          </a:stretch>
        </p:blipFill>
        <p:spPr>
          <a:xfrm>
            <a:off x="720090" y="1588770"/>
            <a:ext cx="251460" cy="251460"/>
          </a:xfrm>
          <a:prstGeom prst="rect">
            <a:avLst/>
          </a:prstGeom>
        </p:spPr>
      </p:pic>
      <p:sp>
        <p:nvSpPr>
          <p:cNvPr id="7" name="Text 4"/>
          <p:cNvSpPr txBox="1"/>
          <p:nvPr/>
        </p:nvSpPr>
        <p:spPr>
          <a:xfrm>
            <a:off x="1188720" y="143560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A. Promoteur et groupe</a:t>
            </a:r>
            <a:endParaRPr lang="en-US" sz="1250" dirty="0"/>
          </a:p>
        </p:txBody>
      </p:sp>
      <p:sp>
        <p:nvSpPr>
          <p:cNvPr id="8" name="Text 5"/>
          <p:cNvSpPr txBox="1"/>
          <p:nvPr/>
        </p:nvSpPr>
        <p:spPr>
          <a:xfrm>
            <a:off x="594360" y="203911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8 pièces</a:t>
            </a:r>
            <a:endParaRPr lang="en-US" sz="1000" dirty="0"/>
          </a:p>
        </p:txBody>
      </p:sp>
      <p:sp>
        <p:nvSpPr>
          <p:cNvPr id="9" name="Text 6"/>
          <p:cNvSpPr txBox="1"/>
          <p:nvPr/>
        </p:nvSpPr>
        <p:spPr>
          <a:xfrm>
            <a:off x="594360" y="226771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États certifiés 3 ans · références livrées · organigramme du groupe</a:t>
            </a:r>
            <a:endParaRPr lang="en-US" sz="1050" dirty="0"/>
          </a:p>
        </p:txBody>
      </p:sp>
      <p:sp>
        <p:nvSpPr>
          <p:cNvPr id="10" name="Shape 7"/>
          <p:cNvSpPr/>
          <p:nvPr/>
        </p:nvSpPr>
        <p:spPr>
          <a:xfrm>
            <a:off x="3246120" y="1325880"/>
            <a:ext cx="2651760" cy="1554480"/>
          </a:xfrm>
          <a:prstGeom prst="roundRect">
            <a:avLst>
              <a:gd name="adj" fmla="val 4706"/>
            </a:avLst>
          </a:prstGeom>
          <a:solidFill>
            <a:srgbClr val="EEF2F8"/>
          </a:solidFill>
          <a:ln w="12700">
            <a:solidFill>
              <a:srgbClr val="EEF2F8"/>
            </a:solidFill>
            <a:prstDash val="solid"/>
          </a:ln>
        </p:spPr>
      </p:sp>
      <p:sp>
        <p:nvSpPr>
          <p:cNvPr id="11" name="Shape 8"/>
          <p:cNvSpPr/>
          <p:nvPr/>
        </p:nvSpPr>
        <p:spPr>
          <a:xfrm>
            <a:off x="3383280" y="1463040"/>
            <a:ext cx="502920" cy="502920"/>
          </a:xfrm>
          <a:prstGeom prst="ellipse">
            <a:avLst/>
          </a:prstGeom>
          <a:solidFill>
            <a:srgbClr val="C8553D"/>
          </a:solidFill>
          <a:ln w="12700">
            <a:solidFill>
              <a:srgbClr val="C8553D"/>
            </a:solidFill>
            <a:prstDash val="solid"/>
          </a:ln>
        </p:spPr>
      </p:sp>
      <p:pic>
        <p:nvPicPr>
          <p:cNvPr id="12" name="Image 1" descr="preencoded.png">    </p:cNvPr>
          <p:cNvPicPr>
            <a:picLocks noChangeAspect="1"/>
          </p:cNvPicPr>
          <p:nvPr/>
        </p:nvPicPr>
        <p:blipFill>
          <a:blip r:embed="rId2"/>
          <a:stretch>
            <a:fillRect/>
          </a:stretch>
        </p:blipFill>
        <p:spPr>
          <a:xfrm>
            <a:off x="3509010" y="1588770"/>
            <a:ext cx="251460" cy="251460"/>
          </a:xfrm>
          <a:prstGeom prst="rect">
            <a:avLst/>
          </a:prstGeom>
        </p:spPr>
      </p:pic>
      <p:sp>
        <p:nvSpPr>
          <p:cNvPr id="13" name="Text 9"/>
          <p:cNvSpPr txBox="1"/>
          <p:nvPr/>
        </p:nvSpPr>
        <p:spPr>
          <a:xfrm>
            <a:off x="3977640" y="143560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B. Foncier et autorisations</a:t>
            </a:r>
            <a:endParaRPr lang="en-US" sz="1250" dirty="0"/>
          </a:p>
        </p:txBody>
      </p:sp>
      <p:sp>
        <p:nvSpPr>
          <p:cNvPr id="14" name="Text 10"/>
          <p:cNvSpPr txBox="1"/>
          <p:nvPr/>
        </p:nvSpPr>
        <p:spPr>
          <a:xfrm>
            <a:off x="3383280" y="203911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6 pièces</a:t>
            </a:r>
            <a:endParaRPr lang="en-US" sz="1000" dirty="0"/>
          </a:p>
        </p:txBody>
      </p:sp>
      <p:sp>
        <p:nvSpPr>
          <p:cNvPr id="15" name="Text 11"/>
          <p:cNvSpPr txBox="1"/>
          <p:nvPr/>
        </p:nvSpPr>
        <p:spPr>
          <a:xfrm>
            <a:off x="3383280" y="226771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Certificat de propriété ANCFCC · autorisation de lotir / permis de construire</a:t>
            </a:r>
            <a:endParaRPr lang="en-US" sz="1050" dirty="0"/>
          </a:p>
        </p:txBody>
      </p:sp>
      <p:sp>
        <p:nvSpPr>
          <p:cNvPr id="16" name="Shape 12"/>
          <p:cNvSpPr/>
          <p:nvPr/>
        </p:nvSpPr>
        <p:spPr>
          <a:xfrm>
            <a:off x="6035040" y="1325880"/>
            <a:ext cx="2651760" cy="1554480"/>
          </a:xfrm>
          <a:prstGeom prst="roundRect">
            <a:avLst>
              <a:gd name="adj" fmla="val 4706"/>
            </a:avLst>
          </a:prstGeom>
          <a:solidFill>
            <a:srgbClr val="EEF2F8"/>
          </a:solidFill>
          <a:ln w="12700">
            <a:solidFill>
              <a:srgbClr val="EEF2F8"/>
            </a:solidFill>
            <a:prstDash val="solid"/>
          </a:ln>
        </p:spPr>
      </p:sp>
      <p:sp>
        <p:nvSpPr>
          <p:cNvPr id="17" name="Shape 13"/>
          <p:cNvSpPr/>
          <p:nvPr/>
        </p:nvSpPr>
        <p:spPr>
          <a:xfrm>
            <a:off x="6172200" y="1463040"/>
            <a:ext cx="502920" cy="502920"/>
          </a:xfrm>
          <a:prstGeom prst="ellipse">
            <a:avLst/>
          </a:prstGeom>
          <a:solidFill>
            <a:srgbClr val="1F3864"/>
          </a:solidFill>
          <a:ln w="12700">
            <a:solidFill>
              <a:srgbClr val="1F3864"/>
            </a:solidFill>
            <a:prstDash val="solid"/>
          </a:ln>
        </p:spPr>
      </p:sp>
      <p:pic>
        <p:nvPicPr>
          <p:cNvPr id="18" name="Image 2" descr="preencoded.png">    </p:cNvPr>
          <p:cNvPicPr>
            <a:picLocks noChangeAspect="1"/>
          </p:cNvPicPr>
          <p:nvPr/>
        </p:nvPicPr>
        <p:blipFill>
          <a:blip r:embed="rId3"/>
          <a:stretch>
            <a:fillRect/>
          </a:stretch>
        </p:blipFill>
        <p:spPr>
          <a:xfrm>
            <a:off x="6297930" y="1588770"/>
            <a:ext cx="251460" cy="251460"/>
          </a:xfrm>
          <a:prstGeom prst="rect">
            <a:avLst/>
          </a:prstGeom>
        </p:spPr>
      </p:pic>
      <p:sp>
        <p:nvSpPr>
          <p:cNvPr id="19" name="Text 14"/>
          <p:cNvSpPr txBox="1"/>
          <p:nvPr/>
        </p:nvSpPr>
        <p:spPr>
          <a:xfrm>
            <a:off x="6766560" y="143560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 Programme, technique et business plan</a:t>
            </a:r>
            <a:endParaRPr lang="en-US" sz="1250" dirty="0"/>
          </a:p>
        </p:txBody>
      </p:sp>
      <p:sp>
        <p:nvSpPr>
          <p:cNvPr id="20" name="Text 15"/>
          <p:cNvSpPr txBox="1"/>
          <p:nvPr/>
        </p:nvSpPr>
        <p:spPr>
          <a:xfrm>
            <a:off x="6172200" y="203911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11 pièces</a:t>
            </a:r>
            <a:endParaRPr lang="en-US" sz="1000" dirty="0"/>
          </a:p>
        </p:txBody>
      </p:sp>
      <p:sp>
        <p:nvSpPr>
          <p:cNvPr id="21" name="Text 16"/>
          <p:cNvSpPr txBox="1"/>
          <p:nvPr/>
        </p:nvSpPr>
        <p:spPr>
          <a:xfrm>
            <a:off x="6172200" y="226771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Business plan · plan de trésorerie MENSUEL · planning · situations visées</a:t>
            </a:r>
            <a:endParaRPr lang="en-US" sz="1050" dirty="0"/>
          </a:p>
        </p:txBody>
      </p:sp>
      <p:sp>
        <p:nvSpPr>
          <p:cNvPr id="22" name="Shape 17"/>
          <p:cNvSpPr/>
          <p:nvPr/>
        </p:nvSpPr>
        <p:spPr>
          <a:xfrm>
            <a:off x="457200" y="3017520"/>
            <a:ext cx="2651760" cy="1554480"/>
          </a:xfrm>
          <a:prstGeom prst="roundRect">
            <a:avLst>
              <a:gd name="adj" fmla="val 4706"/>
            </a:avLst>
          </a:prstGeom>
          <a:solidFill>
            <a:srgbClr val="EEF2F8"/>
          </a:solidFill>
          <a:ln w="12700">
            <a:solidFill>
              <a:srgbClr val="EEF2F8"/>
            </a:solidFill>
            <a:prstDash val="solid"/>
          </a:ln>
        </p:spPr>
      </p:sp>
      <p:sp>
        <p:nvSpPr>
          <p:cNvPr id="23" name="Shape 18"/>
          <p:cNvSpPr/>
          <p:nvPr/>
        </p:nvSpPr>
        <p:spPr>
          <a:xfrm>
            <a:off x="594360" y="3154680"/>
            <a:ext cx="502920" cy="502920"/>
          </a:xfrm>
          <a:prstGeom prst="ellipse">
            <a:avLst/>
          </a:prstGeom>
          <a:solidFill>
            <a:srgbClr val="1F3864"/>
          </a:solidFill>
          <a:ln w="12700">
            <a:solidFill>
              <a:srgbClr val="1F3864"/>
            </a:solidFill>
            <a:prstDash val="solid"/>
          </a:ln>
        </p:spPr>
      </p:sp>
      <p:pic>
        <p:nvPicPr>
          <p:cNvPr id="24" name="Image 3" descr="preencoded.png">    </p:cNvPr>
          <p:cNvPicPr>
            <a:picLocks noChangeAspect="1"/>
          </p:cNvPicPr>
          <p:nvPr/>
        </p:nvPicPr>
        <p:blipFill>
          <a:blip r:embed="rId4"/>
          <a:stretch>
            <a:fillRect/>
          </a:stretch>
        </p:blipFill>
        <p:spPr>
          <a:xfrm>
            <a:off x="720090" y="3280410"/>
            <a:ext cx="251460" cy="251460"/>
          </a:xfrm>
          <a:prstGeom prst="rect">
            <a:avLst/>
          </a:prstGeom>
        </p:spPr>
      </p:pic>
      <p:sp>
        <p:nvSpPr>
          <p:cNvPr id="25" name="Text 19"/>
          <p:cNvSpPr txBox="1"/>
          <p:nvPr/>
        </p:nvSpPr>
        <p:spPr>
          <a:xfrm>
            <a:off x="1188720" y="312724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D. Commercialisation et acquéreurs</a:t>
            </a:r>
            <a:endParaRPr lang="en-US" sz="1250" dirty="0"/>
          </a:p>
        </p:txBody>
      </p:sp>
      <p:sp>
        <p:nvSpPr>
          <p:cNvPr id="26" name="Text 20"/>
          <p:cNvSpPr txBox="1"/>
          <p:nvPr/>
        </p:nvSpPr>
        <p:spPr>
          <a:xfrm>
            <a:off x="594360" y="373075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5 pièces</a:t>
            </a:r>
            <a:endParaRPr lang="en-US" sz="1000" dirty="0"/>
          </a:p>
        </p:txBody>
      </p:sp>
      <p:sp>
        <p:nvSpPr>
          <p:cNvPr id="27" name="Text 21"/>
          <p:cNvSpPr txBox="1"/>
          <p:nvPr/>
        </p:nvSpPr>
        <p:spPr>
          <a:xfrm>
            <a:off x="594360" y="395935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État des ventes lot par lot · contrats VEFA · financement de chaque acquéreur</a:t>
            </a:r>
            <a:endParaRPr lang="en-US" sz="1050" dirty="0"/>
          </a:p>
        </p:txBody>
      </p:sp>
      <p:sp>
        <p:nvSpPr>
          <p:cNvPr id="28" name="Shape 22"/>
          <p:cNvSpPr/>
          <p:nvPr/>
        </p:nvSpPr>
        <p:spPr>
          <a:xfrm>
            <a:off x="3246120" y="3017520"/>
            <a:ext cx="2651760" cy="1554480"/>
          </a:xfrm>
          <a:prstGeom prst="roundRect">
            <a:avLst>
              <a:gd name="adj" fmla="val 4706"/>
            </a:avLst>
          </a:prstGeom>
          <a:solidFill>
            <a:srgbClr val="EEF2F8"/>
          </a:solidFill>
          <a:ln w="12700">
            <a:solidFill>
              <a:srgbClr val="EEF2F8"/>
            </a:solidFill>
            <a:prstDash val="solid"/>
          </a:ln>
        </p:spPr>
      </p:sp>
      <p:sp>
        <p:nvSpPr>
          <p:cNvPr id="29" name="Shape 23"/>
          <p:cNvSpPr/>
          <p:nvPr/>
        </p:nvSpPr>
        <p:spPr>
          <a:xfrm>
            <a:off x="3383280" y="3154680"/>
            <a:ext cx="502920" cy="502920"/>
          </a:xfrm>
          <a:prstGeom prst="ellipse">
            <a:avLst/>
          </a:prstGeom>
          <a:solidFill>
            <a:srgbClr val="1F3864"/>
          </a:solidFill>
          <a:ln w="12700">
            <a:solidFill>
              <a:srgbClr val="1F3864"/>
            </a:solidFill>
            <a:prstDash val="solid"/>
          </a:ln>
        </p:spPr>
      </p:sp>
      <p:pic>
        <p:nvPicPr>
          <p:cNvPr id="30" name="Image 4" descr="preencoded.png">    </p:cNvPr>
          <p:cNvPicPr>
            <a:picLocks noChangeAspect="1"/>
          </p:cNvPicPr>
          <p:nvPr/>
        </p:nvPicPr>
        <p:blipFill>
          <a:blip r:embed="rId5"/>
          <a:stretch>
            <a:fillRect/>
          </a:stretch>
        </p:blipFill>
        <p:spPr>
          <a:xfrm>
            <a:off x="3509010" y="3280410"/>
            <a:ext cx="251460" cy="251460"/>
          </a:xfrm>
          <a:prstGeom prst="rect">
            <a:avLst/>
          </a:prstGeom>
        </p:spPr>
      </p:pic>
      <p:sp>
        <p:nvSpPr>
          <p:cNvPr id="31" name="Text 24"/>
          <p:cNvSpPr txBox="1"/>
          <p:nvPr/>
        </p:nvSpPr>
        <p:spPr>
          <a:xfrm>
            <a:off x="3977640" y="312724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E. Financement et garanties</a:t>
            </a:r>
            <a:endParaRPr lang="en-US" sz="1250" dirty="0"/>
          </a:p>
        </p:txBody>
      </p:sp>
      <p:sp>
        <p:nvSpPr>
          <p:cNvPr id="32" name="Text 25"/>
          <p:cNvSpPr txBox="1"/>
          <p:nvPr/>
        </p:nvSpPr>
        <p:spPr>
          <a:xfrm>
            <a:off x="3383280" y="373075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4 pièces</a:t>
            </a:r>
            <a:endParaRPr lang="en-US" sz="1000" dirty="0"/>
          </a:p>
        </p:txBody>
      </p:sp>
      <p:sp>
        <p:nvSpPr>
          <p:cNvPr id="33" name="Text 26"/>
          <p:cNvSpPr txBox="1"/>
          <p:nvPr/>
        </p:nvSpPr>
        <p:spPr>
          <a:xfrm>
            <a:off x="3383280" y="395935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Expertise indépendante · garanties · clause de mainlevée (quotité)</a:t>
            </a:r>
            <a:endParaRPr lang="en-US" sz="1050" dirty="0"/>
          </a:p>
        </p:txBody>
      </p:sp>
      <p:sp>
        <p:nvSpPr>
          <p:cNvPr id="34" name="Shape 27"/>
          <p:cNvSpPr/>
          <p:nvPr/>
        </p:nvSpPr>
        <p:spPr>
          <a:xfrm>
            <a:off x="6035040" y="3017520"/>
            <a:ext cx="2651760" cy="1554480"/>
          </a:xfrm>
          <a:prstGeom prst="roundRect">
            <a:avLst>
              <a:gd name="adj" fmla="val 4706"/>
            </a:avLst>
          </a:prstGeom>
          <a:solidFill>
            <a:srgbClr val="EEF2F8"/>
          </a:solidFill>
          <a:ln w="12700">
            <a:solidFill>
              <a:srgbClr val="EEF2F8"/>
            </a:solidFill>
            <a:prstDash val="solid"/>
          </a:ln>
        </p:spPr>
      </p:sp>
      <p:sp>
        <p:nvSpPr>
          <p:cNvPr id="35" name="Shape 28"/>
          <p:cNvSpPr/>
          <p:nvPr/>
        </p:nvSpPr>
        <p:spPr>
          <a:xfrm>
            <a:off x="6172200" y="3154680"/>
            <a:ext cx="502920" cy="502920"/>
          </a:xfrm>
          <a:prstGeom prst="ellipse">
            <a:avLst/>
          </a:prstGeom>
          <a:solidFill>
            <a:srgbClr val="1F3864"/>
          </a:solidFill>
          <a:ln w="12700">
            <a:solidFill>
              <a:srgbClr val="1F3864"/>
            </a:solidFill>
            <a:prstDash val="solid"/>
          </a:ln>
        </p:spPr>
      </p:sp>
      <p:pic>
        <p:nvPicPr>
          <p:cNvPr id="36" name="Image 5" descr="preencoded.png">    </p:cNvPr>
          <p:cNvPicPr>
            <a:picLocks noChangeAspect="1"/>
          </p:cNvPicPr>
          <p:nvPr/>
        </p:nvPicPr>
        <p:blipFill>
          <a:blip r:embed="rId6"/>
          <a:stretch>
            <a:fillRect/>
          </a:stretch>
        </p:blipFill>
        <p:spPr>
          <a:xfrm>
            <a:off x="6297930" y="3280410"/>
            <a:ext cx="251460" cy="251460"/>
          </a:xfrm>
          <a:prstGeom prst="rect">
            <a:avLst/>
          </a:prstGeom>
        </p:spPr>
      </p:pic>
      <p:sp>
        <p:nvSpPr>
          <p:cNvPr id="37" name="Text 29"/>
          <p:cNvSpPr txBox="1"/>
          <p:nvPr/>
        </p:nvSpPr>
        <p:spPr>
          <a:xfrm>
            <a:off x="6766560" y="3127248"/>
            <a:ext cx="1828800" cy="5486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F. Situation bancaire et réglementaire (dossier en cours)</a:t>
            </a:r>
            <a:endParaRPr lang="en-US" sz="1250" dirty="0"/>
          </a:p>
        </p:txBody>
      </p:sp>
      <p:sp>
        <p:nvSpPr>
          <p:cNvPr id="38" name="Text 30"/>
          <p:cNvSpPr txBox="1"/>
          <p:nvPr/>
        </p:nvSpPr>
        <p:spPr>
          <a:xfrm>
            <a:off x="6172200" y="3730752"/>
            <a:ext cx="2377440" cy="228600"/>
          </a:xfrm>
          <a:prstGeom prst="rect">
            <a:avLst/>
          </a:prstGeom>
          <a:noFill/>
          <a:ln/>
        </p:spPr>
        <p:txBody>
          <a:bodyPr wrap="square" lIns="0" tIns="0" rIns="0" bIns="0" rtlCol="0" anchor="ctr"/>
          <a:lstStyle/>
          <a:p>
            <a:pPr indent="0" marL="0">
              <a:buNone/>
            </a:pPr>
            <a:r>
              <a:rPr lang="en-US" sz="1000" b="1" dirty="0">
                <a:solidFill>
                  <a:srgbClr val="C8553D"/>
                </a:solidFill>
                <a:latin typeface="Calibri" pitchFamily="34" charset="0"/>
                <a:ea typeface="Calibri" pitchFamily="34" charset="-122"/>
                <a:cs typeface="Calibri" pitchFamily="34" charset="-120"/>
              </a:rPr>
              <a:t>3 pièces</a:t>
            </a:r>
            <a:endParaRPr lang="en-US" sz="1000" dirty="0"/>
          </a:p>
        </p:txBody>
      </p:sp>
      <p:sp>
        <p:nvSpPr>
          <p:cNvPr id="39" name="Text 31"/>
          <p:cNvSpPr txBox="1"/>
          <p:nvPr/>
        </p:nvSpPr>
        <p:spPr>
          <a:xfrm>
            <a:off x="6172200" y="3959352"/>
            <a:ext cx="2395728" cy="5486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Échéancier et impayés · avenants · saisies, jugements</a:t>
            </a:r>
            <a:endParaRPr lang="en-US" sz="1050" dirty="0"/>
          </a:p>
        </p:txBody>
      </p:sp>
      <p:sp>
        <p:nvSpPr>
          <p:cNvPr id="40" name="Text 32"/>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Les données décisionnelles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Sans elles : « Dossier incomplet » — quelle pièce les fournit</a:t>
            </a:r>
            <a:endParaRPr lang="en-US" sz="1300" dirty="0"/>
          </a:p>
        </p:txBody>
      </p:sp>
      <p:sp>
        <p:nvSpPr>
          <p:cNvPr id="4" name="Shape 2"/>
          <p:cNvSpPr/>
          <p:nvPr/>
        </p:nvSpPr>
        <p:spPr>
          <a:xfrm>
            <a:off x="457200" y="1280160"/>
            <a:ext cx="2651760" cy="960120"/>
          </a:xfrm>
          <a:prstGeom prst="roundRect">
            <a:avLst>
              <a:gd name="adj" fmla="val 7619"/>
            </a:avLst>
          </a:prstGeom>
          <a:solidFill>
            <a:srgbClr val="EEF2F8"/>
          </a:solidFill>
          <a:ln w="12700">
            <a:solidFill>
              <a:srgbClr val="EEF2F8"/>
            </a:solidFill>
            <a:prstDash val="solid"/>
          </a:ln>
        </p:spPr>
      </p:sp>
      <p:sp>
        <p:nvSpPr>
          <p:cNvPr id="5" name="Text 3"/>
          <p:cNvSpPr txBox="1"/>
          <p:nvPr/>
        </p:nvSpPr>
        <p:spPr>
          <a:xfrm>
            <a:off x="594360" y="135331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Retard de paiement</a:t>
            </a:r>
            <a:endParaRPr lang="en-US" sz="1250" dirty="0"/>
          </a:p>
        </p:txBody>
      </p:sp>
      <p:sp>
        <p:nvSpPr>
          <p:cNvPr id="6" name="Text 4"/>
          <p:cNvSpPr txBox="1"/>
          <p:nvPr/>
        </p:nvSpPr>
        <p:spPr>
          <a:xfrm>
            <a:off x="594360" y="175564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P31  </a:t>
            </a:r>
            <a:pPr indent="0" marL="0">
              <a:buNone/>
            </a:pPr>
            <a:r>
              <a:rPr lang="en-US" sz="1000" dirty="0">
                <a:solidFill>
                  <a:srgbClr val="2B2B2B"/>
                </a:solidFill>
                <a:latin typeface="Calibri" pitchFamily="34" charset="0"/>
                <a:ea typeface="Calibri" pitchFamily="34" charset="-122"/>
                <a:cs typeface="Calibri" pitchFamily="34" charset="-120"/>
              </a:rPr>
              <a:t>Échéancier et état des impayés</a:t>
            </a:r>
            <a:endParaRPr lang="en-US" sz="1000" dirty="0"/>
          </a:p>
        </p:txBody>
      </p:sp>
      <p:sp>
        <p:nvSpPr>
          <p:cNvPr id="7" name="Shape 5"/>
          <p:cNvSpPr/>
          <p:nvPr/>
        </p:nvSpPr>
        <p:spPr>
          <a:xfrm>
            <a:off x="3246120" y="1280160"/>
            <a:ext cx="2651760" cy="960120"/>
          </a:xfrm>
          <a:prstGeom prst="roundRect">
            <a:avLst>
              <a:gd name="adj" fmla="val 7619"/>
            </a:avLst>
          </a:prstGeom>
          <a:solidFill>
            <a:srgbClr val="EEF2F8"/>
          </a:solidFill>
          <a:ln w="12700">
            <a:solidFill>
              <a:srgbClr val="EEF2F8"/>
            </a:solidFill>
            <a:prstDash val="solid"/>
          </a:ln>
        </p:spPr>
      </p:sp>
      <p:sp>
        <p:nvSpPr>
          <p:cNvPr id="8" name="Text 6"/>
          <p:cNvSpPr txBox="1"/>
          <p:nvPr/>
        </p:nvSpPr>
        <p:spPr>
          <a:xfrm>
            <a:off x="3383280" y="135331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Cash coverage</a:t>
            </a:r>
            <a:endParaRPr lang="en-US" sz="1250" dirty="0"/>
          </a:p>
        </p:txBody>
      </p:sp>
      <p:sp>
        <p:nvSpPr>
          <p:cNvPr id="9" name="Text 7"/>
          <p:cNvSpPr txBox="1"/>
          <p:nvPr/>
        </p:nvSpPr>
        <p:spPr>
          <a:xfrm>
            <a:off x="3383280" y="175564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P17  </a:t>
            </a:r>
            <a:pPr indent="0" marL="0">
              <a:buNone/>
            </a:pPr>
            <a:r>
              <a:rPr lang="en-US" sz="1000" dirty="0">
                <a:solidFill>
                  <a:srgbClr val="2B2B2B"/>
                </a:solidFill>
                <a:latin typeface="Calibri" pitchFamily="34" charset="0"/>
                <a:ea typeface="Calibri" pitchFamily="34" charset="-122"/>
                <a:cs typeface="Calibri" pitchFamily="34" charset="-120"/>
              </a:rPr>
              <a:t>Plan de trésorerie MENSUEL du programme</a:t>
            </a:r>
            <a:endParaRPr lang="en-US" sz="1000" dirty="0"/>
          </a:p>
        </p:txBody>
      </p:sp>
      <p:sp>
        <p:nvSpPr>
          <p:cNvPr id="10" name="Shape 8"/>
          <p:cNvSpPr/>
          <p:nvPr/>
        </p:nvSpPr>
        <p:spPr>
          <a:xfrm>
            <a:off x="6035040" y="1280160"/>
            <a:ext cx="2651760" cy="960120"/>
          </a:xfrm>
          <a:prstGeom prst="roundRect">
            <a:avLst>
              <a:gd name="adj" fmla="val 7619"/>
            </a:avLst>
          </a:prstGeom>
          <a:solidFill>
            <a:srgbClr val="EEF2F8"/>
          </a:solidFill>
          <a:ln w="12700">
            <a:solidFill>
              <a:srgbClr val="EEF2F8"/>
            </a:solidFill>
            <a:prstDash val="solid"/>
          </a:ln>
        </p:spPr>
      </p:sp>
      <p:sp>
        <p:nvSpPr>
          <p:cNvPr id="11" name="Text 9"/>
          <p:cNvSpPr txBox="1"/>
          <p:nvPr/>
        </p:nvSpPr>
        <p:spPr>
          <a:xfrm>
            <a:off x="6172200" y="135331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Arrêt du projet</a:t>
            </a:r>
            <a:endParaRPr lang="en-US" sz="1250" dirty="0"/>
          </a:p>
        </p:txBody>
      </p:sp>
      <p:sp>
        <p:nvSpPr>
          <p:cNvPr id="12" name="Text 10"/>
          <p:cNvSpPr txBox="1"/>
          <p:nvPr/>
        </p:nvSpPr>
        <p:spPr>
          <a:xfrm>
            <a:off x="6172200" y="175564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P21  </a:t>
            </a:r>
            <a:pPr indent="0" marL="0">
              <a:buNone/>
            </a:pPr>
            <a:r>
              <a:rPr lang="en-US" sz="1000" dirty="0">
                <a:solidFill>
                  <a:srgbClr val="2B2B2B"/>
                </a:solidFill>
                <a:latin typeface="Calibri" pitchFamily="34" charset="0"/>
                <a:ea typeface="Calibri" pitchFamily="34" charset="-122"/>
                <a:cs typeface="Calibri" pitchFamily="34" charset="-120"/>
              </a:rPr>
              <a:t>Situations de travaux visées</a:t>
            </a:r>
            <a:endParaRPr lang="en-US" sz="1000" dirty="0"/>
          </a:p>
        </p:txBody>
      </p:sp>
      <p:sp>
        <p:nvSpPr>
          <p:cNvPr id="13" name="Shape 11"/>
          <p:cNvSpPr/>
          <p:nvPr/>
        </p:nvSpPr>
        <p:spPr>
          <a:xfrm>
            <a:off x="457200" y="2377440"/>
            <a:ext cx="2651760" cy="960120"/>
          </a:xfrm>
          <a:prstGeom prst="roundRect">
            <a:avLst>
              <a:gd name="adj" fmla="val 7619"/>
            </a:avLst>
          </a:prstGeom>
          <a:solidFill>
            <a:srgbClr val="EEF2F8"/>
          </a:solidFill>
          <a:ln w="12700">
            <a:solidFill>
              <a:srgbClr val="EEF2F8"/>
            </a:solidFill>
            <a:prstDash val="solid"/>
          </a:ln>
        </p:spPr>
      </p:sp>
      <p:sp>
        <p:nvSpPr>
          <p:cNvPr id="14" name="Text 12"/>
          <p:cNvSpPr txBox="1"/>
          <p:nvPr/>
        </p:nvSpPr>
        <p:spPr>
          <a:xfrm>
            <a:off x="594360" y="245059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Retard chantier</a:t>
            </a:r>
            <a:endParaRPr lang="en-US" sz="1250" dirty="0"/>
          </a:p>
        </p:txBody>
      </p:sp>
      <p:sp>
        <p:nvSpPr>
          <p:cNvPr id="15" name="Text 13"/>
          <p:cNvSpPr txBox="1"/>
          <p:nvPr/>
        </p:nvSpPr>
        <p:spPr>
          <a:xfrm>
            <a:off x="594360" y="285292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P20, P21  </a:t>
            </a:r>
            <a:pPr indent="0" marL="0">
              <a:buNone/>
            </a:pPr>
            <a:r>
              <a:rPr lang="en-US" sz="1000" dirty="0">
                <a:solidFill>
                  <a:srgbClr val="2B2B2B"/>
                </a:solidFill>
                <a:latin typeface="Calibri" pitchFamily="34" charset="0"/>
                <a:ea typeface="Calibri" pitchFamily="34" charset="-122"/>
                <a:cs typeface="Calibri" pitchFamily="34" charset="-120"/>
              </a:rPr>
              <a:t>Planning contractuel des travaux</a:t>
            </a:r>
            <a:endParaRPr lang="en-US" sz="1000" dirty="0"/>
          </a:p>
        </p:txBody>
      </p:sp>
      <p:sp>
        <p:nvSpPr>
          <p:cNvPr id="16" name="Shape 14"/>
          <p:cNvSpPr/>
          <p:nvPr/>
        </p:nvSpPr>
        <p:spPr>
          <a:xfrm>
            <a:off x="3246120" y="2377440"/>
            <a:ext cx="2651760" cy="960120"/>
          </a:xfrm>
          <a:prstGeom prst="roundRect">
            <a:avLst>
              <a:gd name="adj" fmla="val 7619"/>
            </a:avLst>
          </a:prstGeom>
          <a:solidFill>
            <a:srgbClr val="EEF2F8"/>
          </a:solidFill>
          <a:ln w="12700">
            <a:solidFill>
              <a:srgbClr val="EEF2F8"/>
            </a:solidFill>
            <a:prstDash val="solid"/>
          </a:ln>
        </p:spPr>
      </p:sp>
      <p:sp>
        <p:nvSpPr>
          <p:cNvPr id="17" name="Text 15"/>
          <p:cNvSpPr txBox="1"/>
          <p:nvPr/>
        </p:nvSpPr>
        <p:spPr>
          <a:xfrm>
            <a:off x="3383280" y="245059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Apport effectif injecté / prévu</a:t>
            </a:r>
            <a:endParaRPr lang="en-US" sz="1250" dirty="0"/>
          </a:p>
        </p:txBody>
      </p:sp>
      <p:sp>
        <p:nvSpPr>
          <p:cNvPr id="18" name="Text 16"/>
          <p:cNvSpPr txBox="1"/>
          <p:nvPr/>
        </p:nvSpPr>
        <p:spPr>
          <a:xfrm>
            <a:off x="3383280" y="285292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P11, P04, P17  </a:t>
            </a:r>
            <a:pPr indent="0" marL="0">
              <a:buNone/>
            </a:pPr>
            <a:r>
              <a:rPr lang="en-US" sz="1000" dirty="0">
                <a:solidFill>
                  <a:srgbClr val="2B2B2B"/>
                </a:solidFill>
                <a:latin typeface="Calibri" pitchFamily="34" charset="0"/>
                <a:ea typeface="Calibri" pitchFamily="34" charset="-122"/>
                <a:cs typeface="Calibri" pitchFamily="34" charset="-120"/>
              </a:rPr>
              <a:t>Acte d'acquisition du terrain</a:t>
            </a:r>
            <a:endParaRPr lang="en-US" sz="1000" dirty="0"/>
          </a:p>
        </p:txBody>
      </p:sp>
      <p:sp>
        <p:nvSpPr>
          <p:cNvPr id="19" name="Shape 17"/>
          <p:cNvSpPr/>
          <p:nvPr/>
        </p:nvSpPr>
        <p:spPr>
          <a:xfrm>
            <a:off x="6035040" y="2377440"/>
            <a:ext cx="2651760" cy="960120"/>
          </a:xfrm>
          <a:prstGeom prst="roundRect">
            <a:avLst>
              <a:gd name="adj" fmla="val 7619"/>
            </a:avLst>
          </a:prstGeom>
          <a:solidFill>
            <a:srgbClr val="EEF2F8"/>
          </a:solidFill>
          <a:ln w="12700">
            <a:solidFill>
              <a:srgbClr val="EEF2F8"/>
            </a:solidFill>
            <a:prstDash val="solid"/>
          </a:ln>
        </p:spPr>
      </p:sp>
      <p:sp>
        <p:nvSpPr>
          <p:cNvPr id="20" name="Text 18"/>
          <p:cNvSpPr txBox="1"/>
          <p:nvPr/>
        </p:nvSpPr>
        <p:spPr>
          <a:xfrm>
            <a:off x="6172200" y="245059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Foncier &amp; autorisations</a:t>
            </a:r>
            <a:endParaRPr lang="en-US" sz="1250" dirty="0"/>
          </a:p>
        </p:txBody>
      </p:sp>
      <p:sp>
        <p:nvSpPr>
          <p:cNvPr id="21" name="Text 19"/>
          <p:cNvSpPr txBox="1"/>
          <p:nvPr/>
        </p:nvSpPr>
        <p:spPr>
          <a:xfrm>
            <a:off x="6172200" y="285292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P10, P13  </a:t>
            </a:r>
            <a:pPr indent="0" marL="0">
              <a:buNone/>
            </a:pPr>
            <a:r>
              <a:rPr lang="en-US" sz="1000" dirty="0">
                <a:solidFill>
                  <a:srgbClr val="2B2B2B"/>
                </a:solidFill>
                <a:latin typeface="Calibri" pitchFamily="34" charset="0"/>
                <a:ea typeface="Calibri" pitchFamily="34" charset="-122"/>
                <a:cs typeface="Calibri" pitchFamily="34" charset="-120"/>
              </a:rPr>
              <a:t>Certificat de propriété du titre foncier</a:t>
            </a:r>
            <a:endParaRPr lang="en-US" sz="1000" dirty="0"/>
          </a:p>
        </p:txBody>
      </p:sp>
      <p:sp>
        <p:nvSpPr>
          <p:cNvPr id="22" name="Shape 20"/>
          <p:cNvSpPr/>
          <p:nvPr/>
        </p:nvSpPr>
        <p:spPr>
          <a:xfrm>
            <a:off x="457200" y="3474720"/>
            <a:ext cx="2651760" cy="960120"/>
          </a:xfrm>
          <a:prstGeom prst="roundRect">
            <a:avLst>
              <a:gd name="adj" fmla="val 7619"/>
            </a:avLst>
          </a:prstGeom>
          <a:solidFill>
            <a:srgbClr val="EEF2F8"/>
          </a:solidFill>
          <a:ln w="12700">
            <a:solidFill>
              <a:srgbClr val="EEF2F8"/>
            </a:solidFill>
            <a:prstDash val="solid"/>
          </a:ln>
        </p:spPr>
      </p:sp>
      <p:sp>
        <p:nvSpPr>
          <p:cNvPr id="23" name="Text 21"/>
          <p:cNvSpPr txBox="1"/>
          <p:nvPr/>
        </p:nvSpPr>
        <p:spPr>
          <a:xfrm>
            <a:off x="594360" y="354787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Préventes sécurisées</a:t>
            </a:r>
            <a:endParaRPr lang="en-US" sz="1250" dirty="0"/>
          </a:p>
        </p:txBody>
      </p:sp>
      <p:sp>
        <p:nvSpPr>
          <p:cNvPr id="24" name="Text 22"/>
          <p:cNvSpPr txBox="1"/>
          <p:nvPr/>
        </p:nvSpPr>
        <p:spPr>
          <a:xfrm>
            <a:off x="594360" y="395020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P22, P23  </a:t>
            </a:r>
            <a:pPr indent="0" marL="0">
              <a:buNone/>
            </a:pPr>
            <a:r>
              <a:rPr lang="en-US" sz="1000" dirty="0">
                <a:solidFill>
                  <a:srgbClr val="2B2B2B"/>
                </a:solidFill>
                <a:latin typeface="Calibri" pitchFamily="34" charset="0"/>
                <a:ea typeface="Calibri" pitchFamily="34" charset="-122"/>
                <a:cs typeface="Calibri" pitchFamily="34" charset="-120"/>
              </a:rPr>
              <a:t>État des ventes lot par lot</a:t>
            </a:r>
            <a:endParaRPr lang="en-US" sz="1000" dirty="0"/>
          </a:p>
        </p:txBody>
      </p:sp>
      <p:sp>
        <p:nvSpPr>
          <p:cNvPr id="25" name="Shape 23"/>
          <p:cNvSpPr/>
          <p:nvPr/>
        </p:nvSpPr>
        <p:spPr>
          <a:xfrm>
            <a:off x="3246120" y="3474720"/>
            <a:ext cx="2651760" cy="960120"/>
          </a:xfrm>
          <a:prstGeom prst="roundRect">
            <a:avLst>
              <a:gd name="adj" fmla="val 7619"/>
            </a:avLst>
          </a:prstGeom>
          <a:solidFill>
            <a:srgbClr val="EEF2F8"/>
          </a:solidFill>
          <a:ln w="12700">
            <a:solidFill>
              <a:srgbClr val="EEF2F8"/>
            </a:solidFill>
            <a:prstDash val="solid"/>
          </a:ln>
        </p:spPr>
      </p:sp>
      <p:sp>
        <p:nvSpPr>
          <p:cNvPr id="26" name="Text 24"/>
          <p:cNvSpPr txBox="1"/>
          <p:nvPr/>
        </p:nvSpPr>
        <p:spPr>
          <a:xfrm>
            <a:off x="3383280" y="354787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Impasse brute</a:t>
            </a:r>
            <a:endParaRPr lang="en-US" sz="1250" dirty="0"/>
          </a:p>
        </p:txBody>
      </p:sp>
      <p:sp>
        <p:nvSpPr>
          <p:cNvPr id="27" name="Text 25"/>
          <p:cNvSpPr txBox="1"/>
          <p:nvPr/>
        </p:nvSpPr>
        <p:spPr>
          <a:xfrm>
            <a:off x="3383280" y="395020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P17  </a:t>
            </a:r>
            <a:pPr indent="0" marL="0">
              <a:buNone/>
            </a:pPr>
            <a:r>
              <a:rPr lang="en-US" sz="1000" dirty="0">
                <a:solidFill>
                  <a:srgbClr val="2B2B2B"/>
                </a:solidFill>
                <a:latin typeface="Calibri" pitchFamily="34" charset="0"/>
                <a:ea typeface="Calibri" pitchFamily="34" charset="-122"/>
                <a:cs typeface="Calibri" pitchFamily="34" charset="-120"/>
              </a:rPr>
              <a:t>Plan de trésorerie MENSUEL du programme</a:t>
            </a:r>
            <a:endParaRPr lang="en-US" sz="1000" dirty="0"/>
          </a:p>
        </p:txBody>
      </p:sp>
      <p:sp>
        <p:nvSpPr>
          <p:cNvPr id="28" name="Shape 26"/>
          <p:cNvSpPr/>
          <p:nvPr/>
        </p:nvSpPr>
        <p:spPr>
          <a:xfrm>
            <a:off x="6035040" y="3474720"/>
            <a:ext cx="2651760" cy="960120"/>
          </a:xfrm>
          <a:prstGeom prst="roundRect">
            <a:avLst>
              <a:gd name="adj" fmla="val 7619"/>
            </a:avLst>
          </a:prstGeom>
          <a:solidFill>
            <a:srgbClr val="EEF2F8"/>
          </a:solidFill>
          <a:ln w="12700">
            <a:solidFill>
              <a:srgbClr val="EEF2F8"/>
            </a:solidFill>
            <a:prstDash val="solid"/>
          </a:ln>
        </p:spPr>
      </p:sp>
      <p:sp>
        <p:nvSpPr>
          <p:cNvPr id="29" name="Text 27"/>
          <p:cNvSpPr txBox="1"/>
          <p:nvPr/>
        </p:nvSpPr>
        <p:spPr>
          <a:xfrm>
            <a:off x="6172200" y="3547872"/>
            <a:ext cx="2377440" cy="38404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Marge brute</a:t>
            </a:r>
            <a:endParaRPr lang="en-US" sz="1250" dirty="0"/>
          </a:p>
        </p:txBody>
      </p:sp>
      <p:sp>
        <p:nvSpPr>
          <p:cNvPr id="30" name="Text 28"/>
          <p:cNvSpPr txBox="1"/>
          <p:nvPr/>
        </p:nvSpPr>
        <p:spPr>
          <a:xfrm>
            <a:off x="6172200" y="3950208"/>
            <a:ext cx="2377440" cy="420624"/>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P16  </a:t>
            </a:r>
            <a:pPr indent="0" marL="0">
              <a:buNone/>
            </a:pPr>
            <a:r>
              <a:rPr lang="en-US" sz="1000" dirty="0">
                <a:solidFill>
                  <a:srgbClr val="2B2B2B"/>
                </a:solidFill>
                <a:latin typeface="Calibri" pitchFamily="34" charset="0"/>
                <a:ea typeface="Calibri" pitchFamily="34" charset="-122"/>
                <a:cs typeface="Calibri" pitchFamily="34" charset="-120"/>
              </a:rPr>
              <a:t>Business plan du programme</a:t>
            </a:r>
            <a:endParaRPr lang="en-US" sz="1000" dirty="0"/>
          </a:p>
        </p:txBody>
      </p:sp>
      <p:sp>
        <p:nvSpPr>
          <p:cNvPr id="31" name="Text 29"/>
          <p:cNvSpPr txBox="1"/>
          <p:nvPr/>
        </p:nvSpPr>
        <p:spPr>
          <a:xfrm>
            <a:off x="457200" y="4535424"/>
            <a:ext cx="8138160" cy="256032"/>
          </a:xfrm>
          <a:prstGeom prst="rect">
            <a:avLst/>
          </a:prstGeom>
          <a:noFill/>
          <a:ln/>
        </p:spPr>
        <p:txBody>
          <a:bodyPr wrap="square" lIns="0" tIns="0" rIns="0" bIns="0" rtlCol="0" anchor="ctr"/>
          <a:lstStyle/>
          <a:p>
            <a:pPr indent="0" marL="0">
              <a:buNone/>
            </a:pPr>
            <a:r>
              <a:rPr lang="en-US" sz="1100" i="1" dirty="0">
                <a:solidFill>
                  <a:srgbClr val="C8553D"/>
                </a:solidFill>
                <a:latin typeface="Calibri" pitchFamily="34" charset="0"/>
                <a:ea typeface="Calibri" pitchFamily="34" charset="-122"/>
                <a:cs typeface="Calibri" pitchFamily="34" charset="-120"/>
              </a:rPr>
              <a:t>Impayé, retard de chantier, arrêt : saisir 0 s'il n'y en a pas — vide = dossier incomplet.</a:t>
            </a:r>
            <a:endParaRPr lang="en-US" sz="1100" dirty="0"/>
          </a:p>
        </p:txBody>
      </p:sp>
      <p:sp>
        <p:nvSpPr>
          <p:cNvPr id="32" name="Text 30"/>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Pratique marocaine : ce qu'apporte la v4</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Autorisations, financement des acquéreurs, désengagement, division des risques</a:t>
            </a:r>
            <a:endParaRPr lang="en-US" sz="1300" dirty="0"/>
          </a:p>
        </p:txBody>
      </p:sp>
      <p:sp>
        <p:nvSpPr>
          <p:cNvPr id="4" name="Shape 2"/>
          <p:cNvSpPr/>
          <p:nvPr/>
        </p:nvSpPr>
        <p:spPr>
          <a:xfrm>
            <a:off x="457200" y="1280160"/>
            <a:ext cx="3931920" cy="3383280"/>
          </a:xfrm>
          <a:prstGeom prst="roundRect">
            <a:avLst>
              <a:gd name="adj" fmla="val 2162"/>
            </a:avLst>
          </a:prstGeom>
          <a:solidFill>
            <a:srgbClr val="EEF2F8"/>
          </a:solidFill>
          <a:ln w="12700">
            <a:solidFill>
              <a:srgbClr val="EEF2F8"/>
            </a:solidFill>
            <a:prstDash val="solid"/>
          </a:ln>
        </p:spPr>
      </p:sp>
      <p:sp>
        <p:nvSpPr>
          <p:cNvPr id="5" name="Text 3"/>
          <p:cNvSpPr txBox="1"/>
          <p:nvPr/>
        </p:nvSpPr>
        <p:spPr>
          <a:xfrm>
            <a:off x="640080" y="1371600"/>
            <a:ext cx="3566160" cy="32004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Chaîne d'autorisations</a:t>
            </a:r>
            <a:endParaRPr lang="en-US" sz="1400" dirty="0"/>
          </a:p>
        </p:txBody>
      </p:sp>
      <p:sp>
        <p:nvSpPr>
          <p:cNvPr id="6" name="Text 4"/>
          <p:cNvSpPr txBox="1"/>
          <p:nvPr/>
        </p:nvSpPr>
        <p:spPr>
          <a:xfrm>
            <a:off x="640080" y="1737360"/>
            <a:ext cx="3611880" cy="2377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Note de renseignements urbanistiques</a:t>
            </a:r>
            <a:endParaRPr lang="en-US" sz="1050" dirty="0"/>
          </a:p>
          <a:p>
            <a:pPr marL="342900" indent="-342900">
              <a:spcAft>
                <a:spcPts val="200"/>
              </a:spcAft>
              <a:buSzPct val="100000"/>
              <a:buChar char="•"/>
            </a:pPr>
            <a:r>
              <a:rPr lang="en-US" sz="1050" b="1" dirty="0">
                <a:solidFill>
                  <a:srgbClr val="C8553D"/>
                </a:solidFill>
                <a:latin typeface="Calibri" pitchFamily="34" charset="0"/>
                <a:ea typeface="Calibri" pitchFamily="34" charset="-122"/>
                <a:cs typeface="Calibri" pitchFamily="34" charset="-120"/>
              </a:rPr>
              <a:t>Titre foncier purgé (sans inscription contraignante)  — bloque les travaux</a:t>
            </a:r>
            <a:endParaRPr lang="en-US" sz="1050" dirty="0"/>
          </a:p>
          <a:p>
            <a:pPr marL="342900" indent="-342900">
              <a:spcAft>
                <a:spcPts val="200"/>
              </a:spcAft>
              <a:buSzPct val="100000"/>
              <a:buChar char="•"/>
            </a:pPr>
            <a:r>
              <a:rPr lang="en-US" sz="1050" b="1" dirty="0">
                <a:solidFill>
                  <a:srgbClr val="C8553D"/>
                </a:solidFill>
                <a:latin typeface="Calibri" pitchFamily="34" charset="0"/>
                <a:ea typeface="Calibri" pitchFamily="34" charset="-122"/>
                <a:cs typeface="Calibri" pitchFamily="34" charset="-120"/>
              </a:rPr>
              <a:t>Autorisation de lotir  — bloque les travaux</a:t>
            </a:r>
            <a:endParaRPr lang="en-US" sz="1050" dirty="0"/>
          </a:p>
          <a:p>
            <a:pPr marL="342900" indent="-342900">
              <a:spcAft>
                <a:spcPts val="200"/>
              </a:spcAft>
              <a:buSzPct val="100000"/>
              <a:buChar char="•"/>
            </a:pPr>
            <a:r>
              <a:rPr lang="en-US" sz="1050" b="1" dirty="0">
                <a:solidFill>
                  <a:srgbClr val="C8553D"/>
                </a:solidFill>
                <a:latin typeface="Calibri" pitchFamily="34" charset="0"/>
                <a:ea typeface="Calibri" pitchFamily="34" charset="-122"/>
                <a:cs typeface="Calibri" pitchFamily="34" charset="-120"/>
              </a:rPr>
              <a:t>Permis de construire  — bloque les travaux</a:t>
            </a:r>
            <a:endParaRPr lang="en-US" sz="1050" dirty="0"/>
          </a:p>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Autorisation de morcellement / éclatement du titre</a:t>
            </a:r>
            <a:endParaRPr lang="en-US" sz="1050" dirty="0"/>
          </a:p>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Réception provisoire des travaux</a:t>
            </a:r>
            <a:endParaRPr lang="en-US" sz="1050" dirty="0"/>
          </a:p>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Permis d'habiter</a:t>
            </a:r>
            <a:endParaRPr lang="en-US" sz="1050" dirty="0"/>
          </a:p>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Certificat de conformité</a:t>
            </a:r>
            <a:endParaRPr lang="en-US" sz="1050" dirty="0"/>
          </a:p>
          <a:p>
            <a:pPr marL="342900" indent="-342900">
              <a:spcAft>
                <a:spcPts val="200"/>
              </a:spcAft>
              <a:buSzPct val="100000"/>
              <a:buChar char="•"/>
            </a:pPr>
            <a:r>
              <a:rPr lang="en-US" sz="1050" dirty="0">
                <a:solidFill>
                  <a:srgbClr val="2B2B2B"/>
                </a:solidFill>
                <a:latin typeface="Calibri" pitchFamily="34" charset="0"/>
                <a:ea typeface="Calibri" pitchFamily="34" charset="-122"/>
                <a:cs typeface="Calibri" pitchFamily="34" charset="-120"/>
              </a:rPr>
              <a:t>Réception définitive</a:t>
            </a:r>
            <a:endParaRPr lang="en-US" sz="1050" dirty="0"/>
          </a:p>
        </p:txBody>
      </p:sp>
      <p:sp>
        <p:nvSpPr>
          <p:cNvPr id="7" name="Text 5"/>
          <p:cNvSpPr txBox="1"/>
          <p:nvPr/>
        </p:nvSpPr>
        <p:spPr>
          <a:xfrm>
            <a:off x="640080" y="4114800"/>
            <a:ext cx="3611880" cy="457200"/>
          </a:xfrm>
          <a:prstGeom prst="rect">
            <a:avLst/>
          </a:prstGeom>
          <a:noFill/>
          <a:ln/>
        </p:spPr>
        <p:txBody>
          <a:bodyPr wrap="square" lIns="0" tIns="0" rIns="0" bIns="0"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Cocher chaque pièce obtenue dans la fiche projet : le pourcentage et le verrou de tirage sont calculés.</a:t>
            </a:r>
            <a:endParaRPr lang="en-US" sz="1000" dirty="0"/>
          </a:p>
        </p:txBody>
      </p:sp>
      <p:graphicFrame>
        <p:nvGraphicFramePr>
          <p:cNvPr id="8" name="Chart 0" descr=""/>
          <p:cNvGraphicFramePr/>
          <p:nvPr/>
        </p:nvGraphicFramePr>
        <p:xfrm>
          <a:off x="4572000" y="1234440"/>
          <a:ext cx="4114800" cy="3017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663440" y="4297680"/>
            <a:ext cx="3931920" cy="365760"/>
          </a:xfrm>
          <a:prstGeom prst="rect">
            <a:avLst/>
          </a:prstGeom>
          <a:noFill/>
          <a:ln/>
        </p:spPr>
        <p:txBody>
          <a:bodyPr wrap="square" lIns="0" tIns="0" rIns="0" bIns="0" rtlCol="0" anchor="ctr"/>
          <a:lstStyle/>
          <a:p>
            <a:pPr indent="0" marL="0">
              <a:buNone/>
            </a:pPr>
            <a:r>
              <a:rPr lang="en-US" sz="1100" b="1" dirty="0">
                <a:solidFill>
                  <a:srgbClr val="C8553D"/>
                </a:solidFill>
                <a:latin typeface="Calibri" pitchFamily="34" charset="0"/>
                <a:ea typeface="Calibri" pitchFamily="34" charset="-122"/>
                <a:cs typeface="Calibri" pitchFamily="34" charset="-120"/>
              </a:rPr>
              <a:t>Une réservation non instruite ne vaut que 20 % d'une vente financée.</a:t>
            </a:r>
            <a:endParaRPr lang="en-US" sz="1100" dirty="0"/>
          </a:p>
        </p:txBody>
      </p:sp>
      <p:sp>
        <p:nvSpPr>
          <p:cNvPr id="10" name="Text 7"/>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Ce qu'apporte la v5</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Région, tranche financée, programme mixte, équipements exigés, déblocages</a:t>
            </a:r>
            <a:endParaRPr lang="en-US" sz="1300" dirty="0"/>
          </a:p>
        </p:txBody>
      </p:sp>
      <p:sp>
        <p:nvSpPr>
          <p:cNvPr id="4" name="Shape 2"/>
          <p:cNvSpPr/>
          <p:nvPr/>
        </p:nvSpPr>
        <p:spPr>
          <a:xfrm>
            <a:off x="457200" y="1280160"/>
            <a:ext cx="2606040" cy="1463040"/>
          </a:xfrm>
          <a:prstGeom prst="roundRect">
            <a:avLst>
              <a:gd name="adj" fmla="val 5000"/>
            </a:avLst>
          </a:prstGeom>
          <a:solidFill>
            <a:srgbClr val="EEF2F8"/>
          </a:solidFill>
          <a:ln w="12700">
            <a:solidFill>
              <a:srgbClr val="EEF2F8"/>
            </a:solidFill>
            <a:prstDash val="solid"/>
          </a:ln>
        </p:spPr>
      </p:sp>
      <p:sp>
        <p:nvSpPr>
          <p:cNvPr id="5" name="Shape 3"/>
          <p:cNvSpPr/>
          <p:nvPr/>
        </p:nvSpPr>
        <p:spPr>
          <a:xfrm>
            <a:off x="594360" y="1417320"/>
            <a:ext cx="502920" cy="502920"/>
          </a:xfrm>
          <a:prstGeom prst="ellipse">
            <a:avLst/>
          </a:prstGeom>
          <a:solidFill>
            <a:srgbClr val="2A7F8E"/>
          </a:solidFill>
          <a:ln w="12700">
            <a:solidFill>
              <a:srgbClr val="2A7F8E"/>
            </a:solidFill>
            <a:prstDash val="solid"/>
          </a:ln>
        </p:spPr>
      </p:sp>
      <p:pic>
        <p:nvPicPr>
          <p:cNvPr id="6" name="Image 0" descr="preencoded.png">    </p:cNvPr>
          <p:cNvPicPr>
            <a:picLocks noChangeAspect="1"/>
          </p:cNvPicPr>
          <p:nvPr/>
        </p:nvPicPr>
        <p:blipFill>
          <a:blip r:embed="rId1"/>
          <a:stretch>
            <a:fillRect/>
          </a:stretch>
        </p:blipFill>
        <p:spPr>
          <a:xfrm>
            <a:off x="720090" y="1543050"/>
            <a:ext cx="251460" cy="251460"/>
          </a:xfrm>
          <a:prstGeom prst="rect">
            <a:avLst/>
          </a:prstGeom>
        </p:spPr>
      </p:pic>
      <p:sp>
        <p:nvSpPr>
          <p:cNvPr id="7" name="Text 4"/>
          <p:cNvSpPr txBox="1"/>
          <p:nvPr/>
        </p:nvSpPr>
        <p:spPr>
          <a:xfrm>
            <a:off x="1188720" y="14447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Régionalité</a:t>
            </a:r>
            <a:endParaRPr lang="en-US" sz="1300" dirty="0"/>
          </a:p>
        </p:txBody>
      </p:sp>
      <p:sp>
        <p:nvSpPr>
          <p:cNvPr id="8" name="Text 5"/>
          <p:cNvSpPr txBox="1"/>
          <p:nvPr/>
        </p:nvSpPr>
        <p:spPr>
          <a:xfrm>
            <a:off x="594360" y="19933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Tension du marché de la région × segment, lue dans le référentiel « Marché régional ».</a:t>
            </a:r>
            <a:endParaRPr lang="en-US" sz="1000" dirty="0"/>
          </a:p>
        </p:txBody>
      </p:sp>
      <p:sp>
        <p:nvSpPr>
          <p:cNvPr id="9" name="Shape 6"/>
          <p:cNvSpPr/>
          <p:nvPr/>
        </p:nvSpPr>
        <p:spPr>
          <a:xfrm>
            <a:off x="3246120" y="1280160"/>
            <a:ext cx="2606040" cy="1463040"/>
          </a:xfrm>
          <a:prstGeom prst="roundRect">
            <a:avLst>
              <a:gd name="adj" fmla="val 5000"/>
            </a:avLst>
          </a:prstGeom>
          <a:solidFill>
            <a:srgbClr val="EEF2F8"/>
          </a:solidFill>
          <a:ln w="12700">
            <a:solidFill>
              <a:srgbClr val="EEF2F8"/>
            </a:solidFill>
            <a:prstDash val="solid"/>
          </a:ln>
        </p:spPr>
      </p:sp>
      <p:sp>
        <p:nvSpPr>
          <p:cNvPr id="10" name="Shape 7"/>
          <p:cNvSpPr/>
          <p:nvPr/>
        </p:nvSpPr>
        <p:spPr>
          <a:xfrm>
            <a:off x="3383280" y="1417320"/>
            <a:ext cx="502920" cy="502920"/>
          </a:xfrm>
          <a:prstGeom prst="ellipse">
            <a:avLst/>
          </a:prstGeom>
          <a:solidFill>
            <a:srgbClr val="2A7F8E"/>
          </a:solidFill>
          <a:ln w="12700">
            <a:solidFill>
              <a:srgbClr val="2A7F8E"/>
            </a:solidFill>
            <a:prstDash val="solid"/>
          </a:ln>
        </p:spPr>
      </p:sp>
      <p:pic>
        <p:nvPicPr>
          <p:cNvPr id="11" name="Image 1" descr="preencoded.png">    </p:cNvPr>
          <p:cNvPicPr>
            <a:picLocks noChangeAspect="1"/>
          </p:cNvPicPr>
          <p:nvPr/>
        </p:nvPicPr>
        <p:blipFill>
          <a:blip r:embed="rId2"/>
          <a:stretch>
            <a:fillRect/>
          </a:stretch>
        </p:blipFill>
        <p:spPr>
          <a:xfrm>
            <a:off x="3509010" y="1543050"/>
            <a:ext cx="251460" cy="251460"/>
          </a:xfrm>
          <a:prstGeom prst="rect">
            <a:avLst/>
          </a:prstGeom>
        </p:spPr>
      </p:pic>
      <p:sp>
        <p:nvSpPr>
          <p:cNvPr id="12" name="Text 8"/>
          <p:cNvSpPr txBox="1"/>
          <p:nvPr/>
        </p:nvSpPr>
        <p:spPr>
          <a:xfrm>
            <a:off x="3977640" y="14447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Tranche financée</a:t>
            </a:r>
            <a:endParaRPr lang="en-US" sz="1300" dirty="0"/>
          </a:p>
        </p:txBody>
      </p:sp>
      <p:sp>
        <p:nvSpPr>
          <p:cNvPr id="13" name="Text 9"/>
          <p:cNvSpPr txBox="1"/>
          <p:nvPr/>
        </p:nvSpPr>
        <p:spPr>
          <a:xfrm>
            <a:off x="3383280" y="19933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Préventes, désistements et encours calculés sur la seule tranche financée ; autonomie vis-à-vis des ouvrages communs.</a:t>
            </a:r>
            <a:endParaRPr lang="en-US" sz="1000" dirty="0"/>
          </a:p>
        </p:txBody>
      </p:sp>
      <p:sp>
        <p:nvSpPr>
          <p:cNvPr id="14" name="Shape 10"/>
          <p:cNvSpPr/>
          <p:nvPr/>
        </p:nvSpPr>
        <p:spPr>
          <a:xfrm>
            <a:off x="6035040" y="1280160"/>
            <a:ext cx="2606040" cy="1463040"/>
          </a:xfrm>
          <a:prstGeom prst="roundRect">
            <a:avLst>
              <a:gd name="adj" fmla="val 5000"/>
            </a:avLst>
          </a:prstGeom>
          <a:solidFill>
            <a:srgbClr val="EEF2F8"/>
          </a:solidFill>
          <a:ln w="12700">
            <a:solidFill>
              <a:srgbClr val="EEF2F8"/>
            </a:solidFill>
            <a:prstDash val="solid"/>
          </a:ln>
        </p:spPr>
      </p:sp>
      <p:sp>
        <p:nvSpPr>
          <p:cNvPr id="15" name="Shape 11"/>
          <p:cNvSpPr/>
          <p:nvPr/>
        </p:nvSpPr>
        <p:spPr>
          <a:xfrm>
            <a:off x="6172200" y="1417320"/>
            <a:ext cx="502920" cy="502920"/>
          </a:xfrm>
          <a:prstGeom prst="ellipse">
            <a:avLst/>
          </a:prstGeom>
          <a:solidFill>
            <a:srgbClr val="2A7F8E"/>
          </a:solidFill>
          <a:ln w="12700">
            <a:solidFill>
              <a:srgbClr val="2A7F8E"/>
            </a:solidFill>
            <a:prstDash val="solid"/>
          </a:ln>
        </p:spPr>
      </p:sp>
      <p:pic>
        <p:nvPicPr>
          <p:cNvPr id="16" name="Image 2" descr="preencoded.png">    </p:cNvPr>
          <p:cNvPicPr>
            <a:picLocks noChangeAspect="1"/>
          </p:cNvPicPr>
          <p:nvPr/>
        </p:nvPicPr>
        <p:blipFill>
          <a:blip r:embed="rId3"/>
          <a:stretch>
            <a:fillRect/>
          </a:stretch>
        </p:blipFill>
        <p:spPr>
          <a:xfrm>
            <a:off x="6297930" y="1543050"/>
            <a:ext cx="251460" cy="251460"/>
          </a:xfrm>
          <a:prstGeom prst="rect">
            <a:avLst/>
          </a:prstGeom>
        </p:spPr>
      </p:pic>
      <p:sp>
        <p:nvSpPr>
          <p:cNvPr id="17" name="Text 12"/>
          <p:cNvSpPr txBox="1"/>
          <p:nvPr/>
        </p:nvSpPr>
        <p:spPr>
          <a:xfrm>
            <a:off x="6766560" y="14447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Programme mixte</a:t>
            </a:r>
            <a:endParaRPr lang="en-US" sz="1300" dirty="0"/>
          </a:p>
        </p:txBody>
      </p:sp>
      <p:sp>
        <p:nvSpPr>
          <p:cNvPr id="18" name="Text 13"/>
          <p:cNvSpPr txBox="1"/>
          <p:nvPr/>
        </p:nvSpPr>
        <p:spPr>
          <a:xfrm>
            <a:off x="6172200" y="19933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Villas, appartements, commerces, bureaux, hôtel : part du CA à écoulement lent ; composante sans preneur.</a:t>
            </a:r>
            <a:endParaRPr lang="en-US" sz="1000" dirty="0"/>
          </a:p>
        </p:txBody>
      </p:sp>
      <p:sp>
        <p:nvSpPr>
          <p:cNvPr id="19" name="Shape 14"/>
          <p:cNvSpPr/>
          <p:nvPr/>
        </p:nvSpPr>
        <p:spPr>
          <a:xfrm>
            <a:off x="457200" y="2880360"/>
            <a:ext cx="2606040" cy="1463040"/>
          </a:xfrm>
          <a:prstGeom prst="roundRect">
            <a:avLst>
              <a:gd name="adj" fmla="val 5000"/>
            </a:avLst>
          </a:prstGeom>
          <a:solidFill>
            <a:srgbClr val="EEF2F8"/>
          </a:solidFill>
          <a:ln w="12700">
            <a:solidFill>
              <a:srgbClr val="EEF2F8"/>
            </a:solidFill>
            <a:prstDash val="solid"/>
          </a:ln>
        </p:spPr>
      </p:sp>
      <p:sp>
        <p:nvSpPr>
          <p:cNvPr id="20" name="Shape 15"/>
          <p:cNvSpPr/>
          <p:nvPr/>
        </p:nvSpPr>
        <p:spPr>
          <a:xfrm>
            <a:off x="594360" y="3017520"/>
            <a:ext cx="502920" cy="502920"/>
          </a:xfrm>
          <a:prstGeom prst="ellipse">
            <a:avLst/>
          </a:prstGeom>
          <a:solidFill>
            <a:srgbClr val="2A7F8E"/>
          </a:solidFill>
          <a:ln w="12700">
            <a:solidFill>
              <a:srgbClr val="2A7F8E"/>
            </a:solidFill>
            <a:prstDash val="solid"/>
          </a:ln>
        </p:spPr>
      </p:sp>
      <p:pic>
        <p:nvPicPr>
          <p:cNvPr id="21" name="Image 3" descr="preencoded.png">    </p:cNvPr>
          <p:cNvPicPr>
            <a:picLocks noChangeAspect="1"/>
          </p:cNvPicPr>
          <p:nvPr/>
        </p:nvPicPr>
        <p:blipFill>
          <a:blip r:embed="rId4"/>
          <a:stretch>
            <a:fillRect/>
          </a:stretch>
        </p:blipFill>
        <p:spPr>
          <a:xfrm>
            <a:off x="720090" y="3143250"/>
            <a:ext cx="251460" cy="251460"/>
          </a:xfrm>
          <a:prstGeom prst="rect">
            <a:avLst/>
          </a:prstGeom>
        </p:spPr>
      </p:pic>
      <p:sp>
        <p:nvSpPr>
          <p:cNvPr id="22" name="Text 16"/>
          <p:cNvSpPr txBox="1"/>
          <p:nvPr/>
        </p:nvSpPr>
        <p:spPr>
          <a:xfrm>
            <a:off x="1188720" y="30449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Équipements exigés</a:t>
            </a:r>
            <a:endParaRPr lang="en-US" sz="1300" dirty="0"/>
          </a:p>
        </p:txBody>
      </p:sp>
      <p:sp>
        <p:nvSpPr>
          <p:cNvPr id="23" name="Text 17"/>
          <p:cNvSpPr txBox="1"/>
          <p:nvPr/>
        </p:nvSpPr>
        <p:spPr>
          <a:xfrm>
            <a:off x="594360" y="35935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Mosquée, école, voirie… : coût non budgété, retard qui bloque la réception.</a:t>
            </a:r>
            <a:endParaRPr lang="en-US" sz="1000" dirty="0"/>
          </a:p>
        </p:txBody>
      </p:sp>
      <p:sp>
        <p:nvSpPr>
          <p:cNvPr id="24" name="Shape 18"/>
          <p:cNvSpPr/>
          <p:nvPr/>
        </p:nvSpPr>
        <p:spPr>
          <a:xfrm>
            <a:off x="3246120" y="2880360"/>
            <a:ext cx="2606040" cy="1463040"/>
          </a:xfrm>
          <a:prstGeom prst="roundRect">
            <a:avLst>
              <a:gd name="adj" fmla="val 5000"/>
            </a:avLst>
          </a:prstGeom>
          <a:solidFill>
            <a:srgbClr val="EEF2F8"/>
          </a:solidFill>
          <a:ln w="12700">
            <a:solidFill>
              <a:srgbClr val="EEF2F8"/>
            </a:solidFill>
            <a:prstDash val="solid"/>
          </a:ln>
        </p:spPr>
      </p:sp>
      <p:sp>
        <p:nvSpPr>
          <p:cNvPr id="25" name="Shape 19"/>
          <p:cNvSpPr/>
          <p:nvPr/>
        </p:nvSpPr>
        <p:spPr>
          <a:xfrm>
            <a:off x="3383280" y="3017520"/>
            <a:ext cx="502920" cy="502920"/>
          </a:xfrm>
          <a:prstGeom prst="ellipse">
            <a:avLst/>
          </a:prstGeom>
          <a:solidFill>
            <a:srgbClr val="C8553D"/>
          </a:solidFill>
          <a:ln w="12700">
            <a:solidFill>
              <a:srgbClr val="C8553D"/>
            </a:solidFill>
            <a:prstDash val="solid"/>
          </a:ln>
        </p:spPr>
      </p:sp>
      <p:pic>
        <p:nvPicPr>
          <p:cNvPr id="26" name="Image 4" descr="preencoded.png">    </p:cNvPr>
          <p:cNvPicPr>
            <a:picLocks noChangeAspect="1"/>
          </p:cNvPicPr>
          <p:nvPr/>
        </p:nvPicPr>
        <p:blipFill>
          <a:blip r:embed="rId5"/>
          <a:stretch>
            <a:fillRect/>
          </a:stretch>
        </p:blipFill>
        <p:spPr>
          <a:xfrm>
            <a:off x="3509010" y="3143250"/>
            <a:ext cx="251460" cy="251460"/>
          </a:xfrm>
          <a:prstGeom prst="rect">
            <a:avLst/>
          </a:prstGeom>
        </p:spPr>
      </p:pic>
      <p:sp>
        <p:nvSpPr>
          <p:cNvPr id="27" name="Text 20"/>
          <p:cNvSpPr txBox="1"/>
          <p:nvPr/>
        </p:nvSpPr>
        <p:spPr>
          <a:xfrm>
            <a:off x="3977640" y="30449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Déblocages</a:t>
            </a:r>
            <a:endParaRPr lang="en-US" sz="1300" dirty="0"/>
          </a:p>
        </p:txBody>
      </p:sp>
      <p:sp>
        <p:nvSpPr>
          <p:cNvPr id="28" name="Text 21"/>
          <p:cNvSpPr txBox="1"/>
          <p:nvPr/>
        </p:nvSpPr>
        <p:spPr>
          <a:xfrm>
            <a:off x="3383280" y="35935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Cumul débloqué vs avancement certifié ; plan de tirage vs calendrier.</a:t>
            </a:r>
            <a:endParaRPr lang="en-US" sz="1000" dirty="0"/>
          </a:p>
        </p:txBody>
      </p:sp>
      <p:sp>
        <p:nvSpPr>
          <p:cNvPr id="29" name="Shape 22"/>
          <p:cNvSpPr/>
          <p:nvPr/>
        </p:nvSpPr>
        <p:spPr>
          <a:xfrm>
            <a:off x="6035040" y="2880360"/>
            <a:ext cx="2606040" cy="1463040"/>
          </a:xfrm>
          <a:prstGeom prst="roundRect">
            <a:avLst>
              <a:gd name="adj" fmla="val 5000"/>
            </a:avLst>
          </a:prstGeom>
          <a:solidFill>
            <a:srgbClr val="EEF2F8"/>
          </a:solidFill>
          <a:ln w="12700">
            <a:solidFill>
              <a:srgbClr val="EEF2F8"/>
            </a:solidFill>
            <a:prstDash val="solid"/>
          </a:ln>
        </p:spPr>
      </p:sp>
      <p:sp>
        <p:nvSpPr>
          <p:cNvPr id="30" name="Shape 23"/>
          <p:cNvSpPr/>
          <p:nvPr/>
        </p:nvSpPr>
        <p:spPr>
          <a:xfrm>
            <a:off x="6172200" y="3017520"/>
            <a:ext cx="502920" cy="502920"/>
          </a:xfrm>
          <a:prstGeom prst="ellipse">
            <a:avLst/>
          </a:prstGeom>
          <a:solidFill>
            <a:srgbClr val="C8553D"/>
          </a:solidFill>
          <a:ln w="12700">
            <a:solidFill>
              <a:srgbClr val="C8553D"/>
            </a:solidFill>
            <a:prstDash val="solid"/>
          </a:ln>
        </p:spPr>
      </p:sp>
      <p:pic>
        <p:nvPicPr>
          <p:cNvPr id="31" name="Image 5" descr="preencoded.png">    </p:cNvPr>
          <p:cNvPicPr>
            <a:picLocks noChangeAspect="1"/>
          </p:cNvPicPr>
          <p:nvPr/>
        </p:nvPicPr>
        <p:blipFill>
          <a:blip r:embed="rId6"/>
          <a:stretch>
            <a:fillRect/>
          </a:stretch>
        </p:blipFill>
        <p:spPr>
          <a:xfrm>
            <a:off x="6297930" y="3143250"/>
            <a:ext cx="251460" cy="251460"/>
          </a:xfrm>
          <a:prstGeom prst="rect">
            <a:avLst/>
          </a:prstGeom>
        </p:spPr>
      </p:pic>
      <p:sp>
        <p:nvSpPr>
          <p:cNvPr id="32" name="Text 24"/>
          <p:cNvSpPr txBox="1"/>
          <p:nvPr/>
        </p:nvSpPr>
        <p:spPr>
          <a:xfrm>
            <a:off x="6766560" y="3044952"/>
            <a:ext cx="1783080" cy="45720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Trajectoire</a:t>
            </a:r>
            <a:endParaRPr lang="en-US" sz="1300" dirty="0"/>
          </a:p>
        </p:txBody>
      </p:sp>
      <p:sp>
        <p:nvSpPr>
          <p:cNvPr id="33" name="Text 25"/>
          <p:cNvSpPr txBox="1"/>
          <p:nvPr/>
        </p:nvSpPr>
        <p:spPr>
          <a:xfrm>
            <a:off x="6172200" y="3593592"/>
            <a:ext cx="2377440" cy="713232"/>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Alerte précoce : −5 pts sur 3 revues ou décision dégradée.</a:t>
            </a:r>
            <a:endParaRPr lang="en-US" sz="1000" dirty="0"/>
          </a:p>
        </p:txBody>
      </p:sp>
      <p:sp>
        <p:nvSpPr>
          <p:cNvPr id="34" name="Text 26"/>
          <p:cNvSpPr txBox="1"/>
          <p:nvPr/>
        </p:nvSpPr>
        <p:spPr>
          <a:xfrm>
            <a:off x="457200" y="4553712"/>
            <a:ext cx="8229600" cy="256032"/>
          </a:xfrm>
          <a:prstGeom prst="rect">
            <a:avLst/>
          </a:prstGeom>
          <a:noFill/>
          <a:ln/>
        </p:spPr>
        <p:txBody>
          <a:bodyPr wrap="square" lIns="0" tIns="0" rIns="0" bIns="0" rtlCol="0" anchor="ctr"/>
          <a:lstStyle/>
          <a:p>
            <a:pPr indent="0" marL="0">
              <a:buNone/>
            </a:pPr>
            <a:r>
              <a:rPr lang="en-US" sz="1100" i="1" dirty="0">
                <a:solidFill>
                  <a:srgbClr val="C8553D"/>
                </a:solidFill>
                <a:latin typeface="Calibri" pitchFamily="34" charset="0"/>
                <a:ea typeface="Calibri" pitchFamily="34" charset="-122"/>
                <a:cs typeface="Calibri" pitchFamily="34" charset="-120"/>
              </a:rPr>
              <a:t>Tout se renseigne dans Suivi › « Programme, tranche financée, équipements » puis « Synchroniser vers le scoring ».</a:t>
            </a:r>
            <a:endParaRPr lang="en-US" sz="1100" dirty="0"/>
          </a:p>
        </p:txBody>
      </p:sp>
      <p:sp>
        <p:nvSpPr>
          <p:cNvPr id="35" name="Text 27"/>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Où trouver chaque donnée : exemples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Le guide Word couvre les 37 critères et les 18 alertes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286000"/>
                <a:gridCol w="1005840"/>
                <a:gridCol w="493776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Donnée</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Pièces</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Comment l'obtenir</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1F3864"/>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Apport effectif injecté / prévu (%)</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P11, P04, P17</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Apport effectivement injecté (terrain payé, fonds versés sur le compte du programme) / apport prévu au plan de financement × 100.</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Foncier &amp; autorisations</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P10, P13</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Définitives : titre purgé ET autorisation (lotir / construire) obtenue.</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Préventes sécurisées (%)</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P22, P23</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Prix des lots juridiquement engagés (réservés, compromis, vendus), nets des désistements / chiffre d'affaires total × 100.</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Cash coverage (x)</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P17</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Ressources certaines de la période (trésorerie, tirages autorisés, encaissements sécurisés) / sorties de la période.</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Marge brute (%)</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P16</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(Recettes nettes − coût complet) / recettes nettes × 100, coût complet = foncier + travaux + honoraires + frais financiers + commercialisation.</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LTV stressée (%)</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P27, P26</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Crédit / (valeur d'expertise × 0,90) × 100.</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Ventes sécurisées par le financement acquéreur (%)</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P24, P22</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Σ (prix du lot × facteur de sécurisation du financement de l'acquéreur) / valeur commercialisable totale × 100.</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EEF2F8"/>
                    </a:solidFill>
                  </a:tcPr>
                </a:tc>
              </a:tr>
              <a:tr h="0">
                <a:tc>
                  <a:txBody>
                    <a:bodyPr/>
                    <a:lstStyle/>
                    <a:p>
                      <a:pPr indent="0" marL="0">
                        <a:buNone/>
                      </a:pPr>
                      <a:r>
                        <a:rPr lang="en-US" sz="1000" b="1" dirty="0">
                          <a:solidFill>
                            <a:srgbClr val="1F3864"/>
                          </a:solidFill>
                          <a:latin typeface="Calibri" pitchFamily="34" charset="0"/>
                          <a:ea typeface="Calibri" pitchFamily="34" charset="-122"/>
                          <a:cs typeface="Calibri" pitchFamily="34" charset="-120"/>
                        </a:rPr>
                        <a:t>Quotité de désengagement − équilibre (pts)</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553D"/>
                          </a:solidFill>
                          <a:latin typeface="Calibri" pitchFamily="34" charset="0"/>
                          <a:ea typeface="Calibri" pitchFamily="34" charset="-122"/>
                          <a:cs typeface="Calibri" pitchFamily="34" charset="-120"/>
                        </a:rPr>
                        <a:t>P29, P22, P31</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Quotité de désengagement convenue − (encours / valeur commercialisable totale), en points.</a:t>
                      </a:r>
                      <a:endParaRPr lang="en-US" sz="1000" dirty="0">
                        <a:latin typeface="Calibri" charset="0"/>
                        <a:ea typeface="Calibri" charset="0"/>
                        <a:cs typeface="Calibri" charset="0"/>
                      </a:endParaRPr>
                    </a:p>
                  </a:txBody>
                  <a:tcPr marL="45720" marR="45720" marT="45720" marB="45720" anchor="ctr">
                    <a:lnL w="6350" cap="flat" cmpd="sng" algn="ctr">
                      <a:solidFill>
                        <a:srgbClr val="D0D6E2"/>
                      </a:solidFill>
                      <a:prstDash val="solid"/>
                      <a:round/>
                      <a:headEnd type="none" w="med" len="med"/>
                      <a:tailEnd type="none" w="med" len="med"/>
                    </a:lnL>
                    <a:lnR w="6350" cap="flat" cmpd="sng" algn="ctr">
                      <a:solidFill>
                        <a:srgbClr val="D0D6E2"/>
                      </a:solidFill>
                      <a:prstDash val="solid"/>
                      <a:round/>
                      <a:headEnd type="none" w="med" len="med"/>
                      <a:tailEnd type="none" w="med" len="med"/>
                    </a:lnR>
                    <a:lnT w="6350" cap="flat" cmpd="sng" algn="ctr">
                      <a:solidFill>
                        <a:srgbClr val="D0D6E2"/>
                      </a:solidFill>
                      <a:prstDash val="solid"/>
                      <a:round/>
                      <a:headEnd type="none" w="med" len="med"/>
                      <a:tailEnd type="none" w="med" len="med"/>
                    </a:lnT>
                    <a:lnB w="6350" cap="flat" cmpd="sng" algn="ctr">
                      <a:solidFill>
                        <a:srgbClr val="D0D6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 Synchroniser vers le scoring »</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Un bouton, huit données reportées automatiquement depuis le suivi</a:t>
            </a:r>
            <a:endParaRPr lang="en-US" sz="1300" dirty="0"/>
          </a:p>
        </p:txBody>
      </p:sp>
      <p:sp>
        <p:nvSpPr>
          <p:cNvPr id="4" name="Shape 2"/>
          <p:cNvSpPr/>
          <p:nvPr/>
        </p:nvSpPr>
        <p:spPr>
          <a:xfrm>
            <a:off x="3886200" y="1280160"/>
            <a:ext cx="1371600" cy="1371600"/>
          </a:xfrm>
          <a:prstGeom prst="ellipse">
            <a:avLst/>
          </a:prstGeom>
          <a:solidFill>
            <a:srgbClr val="C8553D"/>
          </a:solidFill>
          <a:ln w="12700">
            <a:solidFill>
              <a:srgbClr val="C8553D"/>
            </a:solidFill>
            <a:prstDash val="solid"/>
          </a:ln>
        </p:spPr>
      </p:sp>
      <p:pic>
        <p:nvPicPr>
          <p:cNvPr id="5" name="Image 0" descr="preencoded.png">    </p:cNvPr>
          <p:cNvPicPr>
            <a:picLocks noChangeAspect="1"/>
          </p:cNvPicPr>
          <p:nvPr/>
        </p:nvPicPr>
        <p:blipFill>
          <a:blip r:embed="rId1"/>
          <a:stretch>
            <a:fillRect/>
          </a:stretch>
        </p:blipFill>
        <p:spPr>
          <a:xfrm>
            <a:off x="4229100" y="1623060"/>
            <a:ext cx="685800" cy="685800"/>
          </a:xfrm>
          <a:prstGeom prst="rect">
            <a:avLst/>
          </a:prstGeom>
        </p:spPr>
      </p:pic>
      <p:sp>
        <p:nvSpPr>
          <p:cNvPr id="6" name="Shape 3"/>
          <p:cNvSpPr/>
          <p:nvPr/>
        </p:nvSpPr>
        <p:spPr>
          <a:xfrm>
            <a:off x="457200" y="1234440"/>
            <a:ext cx="502920" cy="502920"/>
          </a:xfrm>
          <a:prstGeom prst="ellipse">
            <a:avLst/>
          </a:prstGeom>
          <a:solidFill>
            <a:srgbClr val="1F3864"/>
          </a:solidFill>
          <a:ln w="12700">
            <a:solidFill>
              <a:srgbClr val="1F3864"/>
            </a:solidFill>
            <a:prstDash val="solid"/>
          </a:ln>
        </p:spPr>
      </p:sp>
      <p:pic>
        <p:nvPicPr>
          <p:cNvPr id="7" name="Image 1" descr="preencoded.png">    </p:cNvPr>
          <p:cNvPicPr>
            <a:picLocks noChangeAspect="1"/>
          </p:cNvPicPr>
          <p:nvPr/>
        </p:nvPicPr>
        <p:blipFill>
          <a:blip r:embed="rId2"/>
          <a:stretch>
            <a:fillRect/>
          </a:stretch>
        </p:blipFill>
        <p:spPr>
          <a:xfrm>
            <a:off x="582930" y="1360170"/>
            <a:ext cx="251460" cy="251460"/>
          </a:xfrm>
          <a:prstGeom prst="rect">
            <a:avLst/>
          </a:prstGeom>
        </p:spPr>
      </p:pic>
      <p:sp>
        <p:nvSpPr>
          <p:cNvPr id="8" name="Text 4"/>
          <p:cNvSpPr txBox="1"/>
          <p:nvPr/>
        </p:nvSpPr>
        <p:spPr>
          <a:xfrm>
            <a:off x="1097280" y="1216152"/>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Préventes et ventes</a:t>
            </a:r>
            <a:endParaRPr lang="en-US" sz="1250" dirty="0"/>
          </a:p>
        </p:txBody>
      </p:sp>
      <p:sp>
        <p:nvSpPr>
          <p:cNvPr id="9" name="Text 5"/>
          <p:cNvSpPr txBox="1"/>
          <p:nvPr/>
        </p:nvSpPr>
        <p:spPr>
          <a:xfrm>
            <a:off x="1097280" y="1481328"/>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depuis les lots</a:t>
            </a:r>
            <a:endParaRPr lang="en-US" sz="1100" dirty="0"/>
          </a:p>
        </p:txBody>
      </p:sp>
      <p:sp>
        <p:nvSpPr>
          <p:cNvPr id="10" name="Shape 6"/>
          <p:cNvSpPr/>
          <p:nvPr/>
        </p:nvSpPr>
        <p:spPr>
          <a:xfrm>
            <a:off x="457200" y="2075688"/>
            <a:ext cx="502920" cy="502920"/>
          </a:xfrm>
          <a:prstGeom prst="ellipse">
            <a:avLst/>
          </a:prstGeom>
          <a:solidFill>
            <a:srgbClr val="1F3864"/>
          </a:solidFill>
          <a:ln w="12700">
            <a:solidFill>
              <a:srgbClr val="1F3864"/>
            </a:solidFill>
            <a:prstDash val="solid"/>
          </a:ln>
        </p:spPr>
      </p:sp>
      <p:pic>
        <p:nvPicPr>
          <p:cNvPr id="11" name="Image 2" descr="preencoded.png">    </p:cNvPr>
          <p:cNvPicPr>
            <a:picLocks noChangeAspect="1"/>
          </p:cNvPicPr>
          <p:nvPr/>
        </p:nvPicPr>
        <p:blipFill>
          <a:blip r:embed="rId3"/>
          <a:stretch>
            <a:fillRect/>
          </a:stretch>
        </p:blipFill>
        <p:spPr>
          <a:xfrm>
            <a:off x="582930" y="2201418"/>
            <a:ext cx="251460" cy="251460"/>
          </a:xfrm>
          <a:prstGeom prst="rect">
            <a:avLst/>
          </a:prstGeom>
        </p:spPr>
      </p:pic>
      <p:sp>
        <p:nvSpPr>
          <p:cNvPr id="12" name="Text 7"/>
          <p:cNvSpPr txBox="1"/>
          <p:nvPr/>
        </p:nvSpPr>
        <p:spPr>
          <a:xfrm>
            <a:off x="1097280" y="2057400"/>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Avancement vs planning</a:t>
            </a:r>
            <a:endParaRPr lang="en-US" sz="1250" dirty="0"/>
          </a:p>
        </p:txBody>
      </p:sp>
      <p:sp>
        <p:nvSpPr>
          <p:cNvPr id="13" name="Text 8"/>
          <p:cNvSpPr txBox="1"/>
          <p:nvPr/>
        </p:nvSpPr>
        <p:spPr>
          <a:xfrm>
            <a:off x="1097280" y="2322576"/>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depuis les visites</a:t>
            </a:r>
            <a:endParaRPr lang="en-US" sz="1100" dirty="0"/>
          </a:p>
        </p:txBody>
      </p:sp>
      <p:sp>
        <p:nvSpPr>
          <p:cNvPr id="14" name="Shape 9"/>
          <p:cNvSpPr/>
          <p:nvPr/>
        </p:nvSpPr>
        <p:spPr>
          <a:xfrm>
            <a:off x="457200" y="2916936"/>
            <a:ext cx="502920" cy="502920"/>
          </a:xfrm>
          <a:prstGeom prst="ellipse">
            <a:avLst/>
          </a:prstGeom>
          <a:solidFill>
            <a:srgbClr val="1F3864"/>
          </a:solidFill>
          <a:ln w="12700">
            <a:solidFill>
              <a:srgbClr val="1F3864"/>
            </a:solidFill>
            <a:prstDash val="solid"/>
          </a:ln>
        </p:spPr>
      </p:sp>
      <p:pic>
        <p:nvPicPr>
          <p:cNvPr id="15" name="Image 3" descr="preencoded.png">    </p:cNvPr>
          <p:cNvPicPr>
            <a:picLocks noChangeAspect="1"/>
          </p:cNvPicPr>
          <p:nvPr/>
        </p:nvPicPr>
        <p:blipFill>
          <a:blip r:embed="rId4"/>
          <a:stretch>
            <a:fillRect/>
          </a:stretch>
        </p:blipFill>
        <p:spPr>
          <a:xfrm>
            <a:off x="582930" y="3042666"/>
            <a:ext cx="251460" cy="251460"/>
          </a:xfrm>
          <a:prstGeom prst="rect">
            <a:avLst/>
          </a:prstGeom>
        </p:spPr>
      </p:pic>
      <p:sp>
        <p:nvSpPr>
          <p:cNvPr id="16" name="Text 10"/>
          <p:cNvSpPr txBox="1"/>
          <p:nvPr/>
        </p:nvSpPr>
        <p:spPr>
          <a:xfrm>
            <a:off x="1097280" y="2898648"/>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Chaîne d'autorisations</a:t>
            </a:r>
            <a:endParaRPr lang="en-US" sz="1250" dirty="0"/>
          </a:p>
        </p:txBody>
      </p:sp>
      <p:sp>
        <p:nvSpPr>
          <p:cNvPr id="17" name="Text 11"/>
          <p:cNvSpPr txBox="1"/>
          <p:nvPr/>
        </p:nvSpPr>
        <p:spPr>
          <a:xfrm>
            <a:off x="1097280" y="3163824"/>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pièces cochées</a:t>
            </a:r>
            <a:endParaRPr lang="en-US" sz="1100" dirty="0"/>
          </a:p>
        </p:txBody>
      </p:sp>
      <p:sp>
        <p:nvSpPr>
          <p:cNvPr id="18" name="Shape 12"/>
          <p:cNvSpPr/>
          <p:nvPr/>
        </p:nvSpPr>
        <p:spPr>
          <a:xfrm>
            <a:off x="457200" y="3758184"/>
            <a:ext cx="502920" cy="502920"/>
          </a:xfrm>
          <a:prstGeom prst="ellipse">
            <a:avLst/>
          </a:prstGeom>
          <a:solidFill>
            <a:srgbClr val="1F3864"/>
          </a:solidFill>
          <a:ln w="12700">
            <a:solidFill>
              <a:srgbClr val="1F3864"/>
            </a:solidFill>
            <a:prstDash val="solid"/>
          </a:ln>
        </p:spPr>
      </p:sp>
      <p:pic>
        <p:nvPicPr>
          <p:cNvPr id="19" name="Image 4" descr="preencoded.png">    </p:cNvPr>
          <p:cNvPicPr>
            <a:picLocks noChangeAspect="1"/>
          </p:cNvPicPr>
          <p:nvPr/>
        </p:nvPicPr>
        <p:blipFill>
          <a:blip r:embed="rId5"/>
          <a:stretch>
            <a:fillRect/>
          </a:stretch>
        </p:blipFill>
        <p:spPr>
          <a:xfrm>
            <a:off x="582930" y="3883914"/>
            <a:ext cx="251460" cy="251460"/>
          </a:xfrm>
          <a:prstGeom prst="rect">
            <a:avLst/>
          </a:prstGeom>
        </p:spPr>
      </p:pic>
      <p:sp>
        <p:nvSpPr>
          <p:cNvPr id="20" name="Text 13"/>
          <p:cNvSpPr txBox="1"/>
          <p:nvPr/>
        </p:nvSpPr>
        <p:spPr>
          <a:xfrm>
            <a:off x="1097280" y="3739896"/>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Ventes sécurisées</a:t>
            </a:r>
            <a:endParaRPr lang="en-US" sz="1250" dirty="0"/>
          </a:p>
        </p:txBody>
      </p:sp>
      <p:sp>
        <p:nvSpPr>
          <p:cNvPr id="21" name="Text 14"/>
          <p:cNvSpPr txBox="1"/>
          <p:nvPr/>
        </p:nvSpPr>
        <p:spPr>
          <a:xfrm>
            <a:off x="1097280" y="4005072"/>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financement des acquéreurs</a:t>
            </a:r>
            <a:endParaRPr lang="en-US" sz="1100" dirty="0"/>
          </a:p>
        </p:txBody>
      </p:sp>
      <p:sp>
        <p:nvSpPr>
          <p:cNvPr id="22" name="Shape 15"/>
          <p:cNvSpPr/>
          <p:nvPr/>
        </p:nvSpPr>
        <p:spPr>
          <a:xfrm>
            <a:off x="5669280" y="1234440"/>
            <a:ext cx="502920" cy="502920"/>
          </a:xfrm>
          <a:prstGeom prst="ellipse">
            <a:avLst/>
          </a:prstGeom>
          <a:solidFill>
            <a:srgbClr val="1F3864"/>
          </a:solidFill>
          <a:ln w="12700">
            <a:solidFill>
              <a:srgbClr val="1F3864"/>
            </a:solidFill>
            <a:prstDash val="solid"/>
          </a:ln>
        </p:spPr>
      </p:sp>
      <p:pic>
        <p:nvPicPr>
          <p:cNvPr id="23" name="Image 5" descr="preencoded.png">    </p:cNvPr>
          <p:cNvPicPr>
            <a:picLocks noChangeAspect="1"/>
          </p:cNvPicPr>
          <p:nvPr/>
        </p:nvPicPr>
        <p:blipFill>
          <a:blip r:embed="rId6"/>
          <a:stretch>
            <a:fillRect/>
          </a:stretch>
        </p:blipFill>
        <p:spPr>
          <a:xfrm>
            <a:off x="5795010" y="1360170"/>
            <a:ext cx="251460" cy="251460"/>
          </a:xfrm>
          <a:prstGeom prst="rect">
            <a:avLst/>
          </a:prstGeom>
        </p:spPr>
      </p:pic>
      <p:sp>
        <p:nvSpPr>
          <p:cNvPr id="24" name="Text 16"/>
          <p:cNvSpPr txBox="1"/>
          <p:nvPr/>
        </p:nvSpPr>
        <p:spPr>
          <a:xfrm>
            <a:off x="6309360" y="1216152"/>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Quotité vs équilibre</a:t>
            </a:r>
            <a:endParaRPr lang="en-US" sz="1250" dirty="0"/>
          </a:p>
        </p:txBody>
      </p:sp>
      <p:sp>
        <p:nvSpPr>
          <p:cNvPr id="25" name="Text 17"/>
          <p:cNvSpPr txBox="1"/>
          <p:nvPr/>
        </p:nvSpPr>
        <p:spPr>
          <a:xfrm>
            <a:off x="6309360" y="1481328"/>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quotité + encours</a:t>
            </a:r>
            <a:endParaRPr lang="en-US" sz="1100" dirty="0"/>
          </a:p>
        </p:txBody>
      </p:sp>
      <p:sp>
        <p:nvSpPr>
          <p:cNvPr id="26" name="Shape 18"/>
          <p:cNvSpPr/>
          <p:nvPr/>
        </p:nvSpPr>
        <p:spPr>
          <a:xfrm>
            <a:off x="5669280" y="2075688"/>
            <a:ext cx="502920" cy="502920"/>
          </a:xfrm>
          <a:prstGeom prst="ellipse">
            <a:avLst/>
          </a:prstGeom>
          <a:solidFill>
            <a:srgbClr val="1F3864"/>
          </a:solidFill>
          <a:ln w="12700">
            <a:solidFill>
              <a:srgbClr val="1F3864"/>
            </a:solidFill>
            <a:prstDash val="solid"/>
          </a:ln>
        </p:spPr>
      </p:sp>
      <p:pic>
        <p:nvPicPr>
          <p:cNvPr id="27" name="Image 6" descr="preencoded.png">    </p:cNvPr>
          <p:cNvPicPr>
            <a:picLocks noChangeAspect="1"/>
          </p:cNvPicPr>
          <p:nvPr/>
        </p:nvPicPr>
        <p:blipFill>
          <a:blip r:embed="rId7"/>
          <a:stretch>
            <a:fillRect/>
          </a:stretch>
        </p:blipFill>
        <p:spPr>
          <a:xfrm>
            <a:off x="5795010" y="2201418"/>
            <a:ext cx="251460" cy="251460"/>
          </a:xfrm>
          <a:prstGeom prst="rect">
            <a:avLst/>
          </a:prstGeom>
        </p:spPr>
      </p:pic>
      <p:sp>
        <p:nvSpPr>
          <p:cNvPr id="28" name="Text 19"/>
          <p:cNvSpPr txBox="1"/>
          <p:nvPr/>
        </p:nvSpPr>
        <p:spPr>
          <a:xfrm>
            <a:off x="6309360" y="2057400"/>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Division des risques</a:t>
            </a:r>
            <a:endParaRPr lang="en-US" sz="1250" dirty="0"/>
          </a:p>
        </p:txBody>
      </p:sp>
      <p:sp>
        <p:nvSpPr>
          <p:cNvPr id="29" name="Text 20"/>
          <p:cNvSpPr txBox="1"/>
          <p:nvPr/>
        </p:nvSpPr>
        <p:spPr>
          <a:xfrm>
            <a:off x="6309360" y="2322576"/>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exposition du groupe</a:t>
            </a:r>
            <a:endParaRPr lang="en-US" sz="1100" dirty="0"/>
          </a:p>
        </p:txBody>
      </p:sp>
      <p:sp>
        <p:nvSpPr>
          <p:cNvPr id="30" name="Shape 21"/>
          <p:cNvSpPr/>
          <p:nvPr/>
        </p:nvSpPr>
        <p:spPr>
          <a:xfrm>
            <a:off x="5669280" y="2916936"/>
            <a:ext cx="502920" cy="502920"/>
          </a:xfrm>
          <a:prstGeom prst="ellipse">
            <a:avLst/>
          </a:prstGeom>
          <a:solidFill>
            <a:srgbClr val="1F3864"/>
          </a:solidFill>
          <a:ln w="12700">
            <a:solidFill>
              <a:srgbClr val="1F3864"/>
            </a:solidFill>
            <a:prstDash val="solid"/>
          </a:ln>
        </p:spPr>
      </p:sp>
      <p:pic>
        <p:nvPicPr>
          <p:cNvPr id="31" name="Image 7" descr="preencoded.png">    </p:cNvPr>
          <p:cNvPicPr>
            <a:picLocks noChangeAspect="1"/>
          </p:cNvPicPr>
          <p:nvPr/>
        </p:nvPicPr>
        <p:blipFill>
          <a:blip r:embed="rId8"/>
          <a:stretch>
            <a:fillRect/>
          </a:stretch>
        </p:blipFill>
        <p:spPr>
          <a:xfrm>
            <a:off x="5795010" y="3042666"/>
            <a:ext cx="251460" cy="251460"/>
          </a:xfrm>
          <a:prstGeom prst="rect">
            <a:avLst/>
          </a:prstGeom>
        </p:spPr>
      </p:pic>
      <p:sp>
        <p:nvSpPr>
          <p:cNvPr id="32" name="Text 22"/>
          <p:cNvSpPr txBox="1"/>
          <p:nvPr/>
        </p:nvSpPr>
        <p:spPr>
          <a:xfrm>
            <a:off x="6309360" y="2898648"/>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Retard de paiement</a:t>
            </a:r>
            <a:endParaRPr lang="en-US" sz="1250" dirty="0"/>
          </a:p>
        </p:txBody>
      </p:sp>
      <p:sp>
        <p:nvSpPr>
          <p:cNvPr id="33" name="Text 23"/>
          <p:cNvSpPr txBox="1"/>
          <p:nvPr/>
        </p:nvSpPr>
        <p:spPr>
          <a:xfrm>
            <a:off x="6309360" y="3163824"/>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échéancier des facilités</a:t>
            </a:r>
            <a:endParaRPr lang="en-US" sz="1100" dirty="0"/>
          </a:p>
        </p:txBody>
      </p:sp>
      <p:sp>
        <p:nvSpPr>
          <p:cNvPr id="34" name="Shape 24"/>
          <p:cNvSpPr/>
          <p:nvPr/>
        </p:nvSpPr>
        <p:spPr>
          <a:xfrm>
            <a:off x="5669280" y="3758184"/>
            <a:ext cx="502920" cy="502920"/>
          </a:xfrm>
          <a:prstGeom prst="ellipse">
            <a:avLst/>
          </a:prstGeom>
          <a:solidFill>
            <a:srgbClr val="1F3864"/>
          </a:solidFill>
          <a:ln w="12700">
            <a:solidFill>
              <a:srgbClr val="1F3864"/>
            </a:solidFill>
            <a:prstDash val="solid"/>
          </a:ln>
        </p:spPr>
      </p:sp>
      <p:pic>
        <p:nvPicPr>
          <p:cNvPr id="35" name="Image 8" descr="preencoded.png">    </p:cNvPr>
          <p:cNvPicPr>
            <a:picLocks noChangeAspect="1"/>
          </p:cNvPicPr>
          <p:nvPr/>
        </p:nvPicPr>
        <p:blipFill>
          <a:blip r:embed="rId9"/>
          <a:stretch>
            <a:fillRect/>
          </a:stretch>
        </p:blipFill>
        <p:spPr>
          <a:xfrm>
            <a:off x="5795010" y="3883914"/>
            <a:ext cx="251460" cy="251460"/>
          </a:xfrm>
          <a:prstGeom prst="rect">
            <a:avLst/>
          </a:prstGeom>
        </p:spPr>
      </p:pic>
      <p:sp>
        <p:nvSpPr>
          <p:cNvPr id="36" name="Text 25"/>
          <p:cNvSpPr txBox="1"/>
          <p:nvPr/>
        </p:nvSpPr>
        <p:spPr>
          <a:xfrm>
            <a:off x="6309360" y="3739896"/>
            <a:ext cx="2377440" cy="2743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Arrêt, litige, saisie…</a:t>
            </a:r>
            <a:endParaRPr lang="en-US" sz="1250" dirty="0"/>
          </a:p>
        </p:txBody>
      </p:sp>
      <p:sp>
        <p:nvSpPr>
          <p:cNvPr id="37" name="Text 26"/>
          <p:cNvSpPr txBox="1"/>
          <p:nvPr/>
        </p:nvSpPr>
        <p:spPr>
          <a:xfrm>
            <a:off x="6309360" y="4005072"/>
            <a:ext cx="2377440" cy="256032"/>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journal d'événements</a:t>
            </a:r>
            <a:endParaRPr lang="en-US" sz="1100" dirty="0"/>
          </a:p>
        </p:txBody>
      </p:sp>
      <p:sp>
        <p:nvSpPr>
          <p:cNvPr id="38" name="Text 27"/>
          <p:cNvSpPr txBox="1"/>
          <p:nvPr/>
        </p:nvSpPr>
        <p:spPr>
          <a:xfrm>
            <a:off x="3383280" y="2880360"/>
            <a:ext cx="2194560" cy="1005840"/>
          </a:xfrm>
          <a:prstGeom prst="rect">
            <a:avLst/>
          </a:prstGeom>
          <a:noFill/>
          <a:ln/>
        </p:spPr>
        <p:txBody>
          <a:bodyPr wrap="square" lIns="0" tIns="0" rIns="0" bIns="0" rtlCol="0" anchor="t"/>
          <a:lstStyle/>
          <a:p>
            <a:pPr algn="ctr" indent="0" marL="0">
              <a:buNone/>
            </a:pPr>
            <a:r>
              <a:rPr lang="en-US" sz="1150" dirty="0">
                <a:solidFill>
                  <a:srgbClr val="2B2B2B"/>
                </a:solidFill>
                <a:latin typeface="Calibri" pitchFamily="34" charset="0"/>
                <a:ea typeface="Calibri" pitchFamily="34" charset="-122"/>
                <a:cs typeface="Calibri" pitchFamily="34" charset="-120"/>
              </a:rPr>
              <a:t>Puis « Enregistrer &amp; calculer ». Une valeur reportée remplace la saisie manuelle.</a:t>
            </a:r>
            <a:endParaRPr lang="en-US" sz="1150" dirty="0"/>
          </a:p>
        </p:txBody>
      </p:sp>
      <p:sp>
        <p:nvSpPr>
          <p:cNvPr id="39" name="Text 28"/>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Lire le résultat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Fiche projet › Scoring › « Lecture du résultat »</a:t>
            </a:r>
            <a:endParaRPr lang="en-US" sz="1300" dirty="0"/>
          </a:p>
        </p:txBody>
      </p:sp>
      <p:sp>
        <p:nvSpPr>
          <p:cNvPr id="4" name="Shape 2"/>
          <p:cNvSpPr/>
          <p:nvPr/>
        </p:nvSpPr>
        <p:spPr>
          <a:xfrm>
            <a:off x="457200" y="1316736"/>
            <a:ext cx="384048" cy="384048"/>
          </a:xfrm>
          <a:prstGeom prst="ellipse">
            <a:avLst/>
          </a:prstGeom>
          <a:solidFill>
            <a:srgbClr val="1F3864"/>
          </a:solidFill>
          <a:ln w="12700">
            <a:solidFill>
              <a:srgbClr val="1F3864"/>
            </a:solidFill>
            <a:prstDash val="solid"/>
          </a:ln>
        </p:spPr>
      </p:sp>
      <p:sp>
        <p:nvSpPr>
          <p:cNvPr id="5" name="Text 3"/>
          <p:cNvSpPr txBox="1"/>
          <p:nvPr/>
        </p:nvSpPr>
        <p:spPr>
          <a:xfrm>
            <a:off x="457200" y="1316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0120" y="128016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Contentieux (CTX)</a:t>
            </a:r>
            <a:endParaRPr lang="en-US" sz="1150" dirty="0"/>
          </a:p>
        </p:txBody>
      </p:sp>
      <p:sp>
        <p:nvSpPr>
          <p:cNvPr id="7" name="Text 5"/>
          <p:cNvSpPr txBox="1"/>
          <p:nvPr/>
        </p:nvSpPr>
        <p:spPr>
          <a:xfrm>
            <a:off x="4023360" y="1280160"/>
            <a:ext cx="1737360" cy="457200"/>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NO_GO — score 0</a:t>
            </a:r>
            <a:endParaRPr lang="en-US" sz="1050" dirty="0"/>
          </a:p>
        </p:txBody>
      </p:sp>
      <p:sp>
        <p:nvSpPr>
          <p:cNvPr id="8" name="Shape 6"/>
          <p:cNvSpPr/>
          <p:nvPr/>
        </p:nvSpPr>
        <p:spPr>
          <a:xfrm>
            <a:off x="457200" y="1865376"/>
            <a:ext cx="384048" cy="384048"/>
          </a:xfrm>
          <a:prstGeom prst="ellipse">
            <a:avLst/>
          </a:prstGeom>
          <a:solidFill>
            <a:srgbClr val="1F3864"/>
          </a:solidFill>
          <a:ln w="12700">
            <a:solidFill>
              <a:srgbClr val="1F3864"/>
            </a:solidFill>
            <a:prstDash val="solid"/>
          </a:ln>
        </p:spPr>
      </p:sp>
      <p:sp>
        <p:nvSpPr>
          <p:cNvPr id="9" name="Text 7"/>
          <p:cNvSpPr txBox="1"/>
          <p:nvPr/>
        </p:nvSpPr>
        <p:spPr>
          <a:xfrm>
            <a:off x="457200" y="18653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60120" y="182880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Alerte bloquante : impayé ≥ 90 j, arrêt ≥ 12 mois, contentieux</a:t>
            </a:r>
            <a:endParaRPr lang="en-US" sz="1150" dirty="0"/>
          </a:p>
        </p:txBody>
      </p:sp>
      <p:sp>
        <p:nvSpPr>
          <p:cNvPr id="11" name="Text 9"/>
          <p:cNvSpPr txBox="1"/>
          <p:nvPr/>
        </p:nvSpPr>
        <p:spPr>
          <a:xfrm>
            <a:off x="4023360" y="1828800"/>
            <a:ext cx="1737360" cy="457200"/>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NO_GO — souffrance</a:t>
            </a:r>
            <a:endParaRPr lang="en-US" sz="1050" dirty="0"/>
          </a:p>
        </p:txBody>
      </p:sp>
      <p:sp>
        <p:nvSpPr>
          <p:cNvPr id="12" name="Shape 10"/>
          <p:cNvSpPr/>
          <p:nvPr/>
        </p:nvSpPr>
        <p:spPr>
          <a:xfrm>
            <a:off x="457200" y="2414016"/>
            <a:ext cx="384048" cy="384048"/>
          </a:xfrm>
          <a:prstGeom prst="ellipse">
            <a:avLst/>
          </a:prstGeom>
          <a:solidFill>
            <a:srgbClr val="1F3864"/>
          </a:solidFill>
          <a:ln w="12700">
            <a:solidFill>
              <a:srgbClr val="1F3864"/>
            </a:solidFill>
            <a:prstDash val="solid"/>
          </a:ln>
        </p:spPr>
      </p:sp>
      <p:sp>
        <p:nvSpPr>
          <p:cNvPr id="13" name="Text 11"/>
          <p:cNvSpPr txBox="1"/>
          <p:nvPr/>
        </p:nvSpPr>
        <p:spPr>
          <a:xfrm>
            <a:off x="457200" y="24140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60120" y="237744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Classe en défaut</a:t>
            </a:r>
            <a:endParaRPr lang="en-US" sz="1150" dirty="0"/>
          </a:p>
        </p:txBody>
      </p:sp>
      <p:sp>
        <p:nvSpPr>
          <p:cNvPr id="15" name="Text 13"/>
          <p:cNvSpPr txBox="1"/>
          <p:nvPr/>
        </p:nvSpPr>
        <p:spPr>
          <a:xfrm>
            <a:off x="4023360" y="2377440"/>
            <a:ext cx="1737360" cy="457200"/>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NO_GO — défaut avéré</a:t>
            </a:r>
            <a:endParaRPr lang="en-US" sz="1050" dirty="0"/>
          </a:p>
        </p:txBody>
      </p:sp>
      <p:sp>
        <p:nvSpPr>
          <p:cNvPr id="16" name="Shape 14"/>
          <p:cNvSpPr/>
          <p:nvPr/>
        </p:nvSpPr>
        <p:spPr>
          <a:xfrm>
            <a:off x="457200" y="2962656"/>
            <a:ext cx="384048" cy="384048"/>
          </a:xfrm>
          <a:prstGeom prst="ellipse">
            <a:avLst/>
          </a:prstGeom>
          <a:solidFill>
            <a:srgbClr val="1F3864"/>
          </a:solidFill>
          <a:ln w="12700">
            <a:solidFill>
              <a:srgbClr val="1F3864"/>
            </a:solidFill>
            <a:prstDash val="solid"/>
          </a:ln>
        </p:spPr>
      </p:sp>
      <p:sp>
        <p:nvSpPr>
          <p:cNvPr id="17" name="Text 15"/>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960120" y="292608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Donnée décisionnelle absente</a:t>
            </a:r>
            <a:endParaRPr lang="en-US" sz="1150" dirty="0"/>
          </a:p>
        </p:txBody>
      </p:sp>
      <p:sp>
        <p:nvSpPr>
          <p:cNvPr id="19" name="Text 17"/>
          <p:cNvSpPr txBox="1"/>
          <p:nvPr/>
        </p:nvSpPr>
        <p:spPr>
          <a:xfrm>
            <a:off x="4023360" y="2926080"/>
            <a:ext cx="1737360" cy="457200"/>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DOSSIER INCOMPLET</a:t>
            </a:r>
            <a:endParaRPr lang="en-US" sz="1050" dirty="0"/>
          </a:p>
        </p:txBody>
      </p:sp>
      <p:sp>
        <p:nvSpPr>
          <p:cNvPr id="20" name="Shape 18"/>
          <p:cNvSpPr/>
          <p:nvPr/>
        </p:nvSpPr>
        <p:spPr>
          <a:xfrm>
            <a:off x="457200" y="3511296"/>
            <a:ext cx="384048" cy="384048"/>
          </a:xfrm>
          <a:prstGeom prst="ellipse">
            <a:avLst/>
          </a:prstGeom>
          <a:solidFill>
            <a:srgbClr val="1F3864"/>
          </a:solidFill>
          <a:ln w="12700">
            <a:solidFill>
              <a:srgbClr val="1F3864"/>
            </a:solidFill>
            <a:prstDash val="solid"/>
          </a:ln>
        </p:spPr>
      </p:sp>
      <p:sp>
        <p:nvSpPr>
          <p:cNvPr id="21" name="Text 19"/>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960120" y="347472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Critère éliminatoire franchi</a:t>
            </a:r>
            <a:endParaRPr lang="en-US" sz="1150" dirty="0"/>
          </a:p>
        </p:txBody>
      </p:sp>
      <p:sp>
        <p:nvSpPr>
          <p:cNvPr id="23" name="Text 21"/>
          <p:cNvSpPr txBox="1"/>
          <p:nvPr/>
        </p:nvSpPr>
        <p:spPr>
          <a:xfrm>
            <a:off x="4023360" y="3474720"/>
            <a:ext cx="1737360" cy="457200"/>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NO_GO + condition</a:t>
            </a:r>
            <a:endParaRPr lang="en-US" sz="1050" dirty="0"/>
          </a:p>
        </p:txBody>
      </p:sp>
      <p:sp>
        <p:nvSpPr>
          <p:cNvPr id="24" name="Shape 22"/>
          <p:cNvSpPr/>
          <p:nvPr/>
        </p:nvSpPr>
        <p:spPr>
          <a:xfrm>
            <a:off x="457200" y="4059936"/>
            <a:ext cx="384048" cy="384048"/>
          </a:xfrm>
          <a:prstGeom prst="ellipse">
            <a:avLst/>
          </a:prstGeom>
          <a:solidFill>
            <a:srgbClr val="2A7F8E"/>
          </a:solidFill>
          <a:ln w="12700">
            <a:solidFill>
              <a:srgbClr val="2A7F8E"/>
            </a:solidFill>
            <a:prstDash val="solid"/>
          </a:ln>
        </p:spPr>
      </p:sp>
      <p:sp>
        <p:nvSpPr>
          <p:cNvPr id="25" name="Text 23"/>
          <p:cNvSpPr txBox="1"/>
          <p:nvPr/>
        </p:nvSpPr>
        <p:spPr>
          <a:xfrm>
            <a:off x="457200" y="40599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960120" y="4023360"/>
            <a:ext cx="3108960" cy="457200"/>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Sinon : seuils 75 / 65 / 50</a:t>
            </a:r>
            <a:endParaRPr lang="en-US" sz="1150" dirty="0"/>
          </a:p>
        </p:txBody>
      </p:sp>
      <p:sp>
        <p:nvSpPr>
          <p:cNvPr id="27" name="Text 25"/>
          <p:cNvSpPr txBox="1"/>
          <p:nvPr/>
        </p:nvSpPr>
        <p:spPr>
          <a:xfrm>
            <a:off x="4023360" y="4023360"/>
            <a:ext cx="1737360" cy="457200"/>
          </a:xfrm>
          <a:prstGeom prst="rect">
            <a:avLst/>
          </a:prstGeom>
          <a:noFill/>
          <a:ln/>
        </p:spPr>
        <p:txBody>
          <a:bodyPr wrap="square" lIns="0" tIns="0" rIns="0" bIns="0" rtlCol="0" anchor="ctr"/>
          <a:lstStyle/>
          <a:p>
            <a:pPr indent="0" marL="0">
              <a:buNone/>
            </a:pPr>
            <a:r>
              <a:rPr lang="en-US" sz="1050" b="1" dirty="0">
                <a:solidFill>
                  <a:srgbClr val="2A7F8E"/>
                </a:solidFill>
                <a:latin typeface="Calibri" pitchFamily="34" charset="0"/>
                <a:ea typeface="Calibri" pitchFamily="34" charset="-122"/>
                <a:cs typeface="Calibri" pitchFamily="34" charset="-120"/>
              </a:rPr>
              <a:t>GO · sous conditions · watch · NO_GO</a:t>
            </a:r>
            <a:endParaRPr lang="en-US" sz="1050" dirty="0"/>
          </a:p>
        </p:txBody>
      </p:sp>
      <p:sp>
        <p:nvSpPr>
          <p:cNvPr id="28" name="Shape 26"/>
          <p:cNvSpPr/>
          <p:nvPr/>
        </p:nvSpPr>
        <p:spPr>
          <a:xfrm>
            <a:off x="5989320" y="1280160"/>
            <a:ext cx="2697480" cy="3246120"/>
          </a:xfrm>
          <a:prstGeom prst="roundRect">
            <a:avLst>
              <a:gd name="adj" fmla="val 2712"/>
            </a:avLst>
          </a:prstGeom>
          <a:solidFill>
            <a:srgbClr val="1F3864"/>
          </a:solidFill>
          <a:ln w="12700">
            <a:solidFill>
              <a:srgbClr val="1F3864"/>
            </a:solidFill>
            <a:prstDash val="solid"/>
          </a:ln>
        </p:spPr>
      </p:sp>
      <p:sp>
        <p:nvSpPr>
          <p:cNvPr id="29" name="Text 27"/>
          <p:cNvSpPr txBox="1"/>
          <p:nvPr/>
        </p:nvSpPr>
        <p:spPr>
          <a:xfrm>
            <a:off x="6172200" y="1371600"/>
            <a:ext cx="2377440" cy="320040"/>
          </a:xfrm>
          <a:prstGeom prst="rect">
            <a:avLst/>
          </a:prstGeom>
          <a:noFill/>
          <a:ln/>
        </p:spPr>
        <p:txBody>
          <a:bodyPr wrap="square" lIns="0" tIns="0" rIns="0" bIns="0" rtlCol="0" anchor="ctr"/>
          <a:lstStyle/>
          <a:p>
            <a:pPr indent="0" marL="0">
              <a:buNone/>
            </a:pPr>
            <a:r>
              <a:rPr lang="en-US" sz="1400" b="1" dirty="0">
                <a:solidFill>
                  <a:srgbClr val="F2B8A6"/>
                </a:solidFill>
                <a:latin typeface="Calibri" pitchFamily="34" charset="0"/>
                <a:ea typeface="Calibri" pitchFamily="34" charset="-122"/>
                <a:cs typeface="Calibri" pitchFamily="34" charset="-120"/>
              </a:rPr>
              <a:t>L'encart affiche</a:t>
            </a:r>
            <a:endParaRPr lang="en-US" sz="1400" dirty="0"/>
          </a:p>
        </p:txBody>
      </p:sp>
      <p:sp>
        <p:nvSpPr>
          <p:cNvPr id="30" name="Text 28"/>
          <p:cNvSpPr txBox="1"/>
          <p:nvPr/>
        </p:nvSpPr>
        <p:spPr>
          <a:xfrm>
            <a:off x="6172200" y="1737360"/>
            <a:ext cx="2377440" cy="26974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Version du modèle (alerte si retirée)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Classe interne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Score brut, ajustements, malus, coefficient BAM</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Notes économique et de sûretés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Données manquantes en clair</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Conditions et jalon de levée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Retour en comité requis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PD indicative (non calibrée)</a:t>
            </a:r>
            <a:endParaRPr lang="en-US" sz="1100" dirty="0"/>
          </a:p>
        </p:txBody>
      </p:sp>
      <p:sp>
        <p:nvSpPr>
          <p:cNvPr id="31" name="Text 29"/>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Que faire selon le résultat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Chaque situation appelle une action précise</a:t>
            </a:r>
            <a:endParaRPr lang="en-US" sz="1300" dirty="0"/>
          </a:p>
        </p:txBody>
      </p:sp>
      <p:sp>
        <p:nvSpPr>
          <p:cNvPr id="4" name="Shape 2"/>
          <p:cNvSpPr/>
          <p:nvPr/>
        </p:nvSpPr>
        <p:spPr>
          <a:xfrm>
            <a:off x="457200" y="1280160"/>
            <a:ext cx="4023360" cy="1508760"/>
          </a:xfrm>
          <a:prstGeom prst="roundRect">
            <a:avLst>
              <a:gd name="adj" fmla="val 4848"/>
            </a:avLst>
          </a:prstGeom>
          <a:solidFill>
            <a:srgbClr val="EEF2F8"/>
          </a:solidFill>
          <a:ln w="12700">
            <a:solidFill>
              <a:srgbClr val="EEF2F8"/>
            </a:solidFill>
            <a:prstDash val="solid"/>
          </a:ln>
        </p:spPr>
      </p:sp>
      <p:sp>
        <p:nvSpPr>
          <p:cNvPr id="5" name="Shape 3"/>
          <p:cNvSpPr/>
          <p:nvPr/>
        </p:nvSpPr>
        <p:spPr>
          <a:xfrm>
            <a:off x="640080" y="1508760"/>
            <a:ext cx="594360" cy="594360"/>
          </a:xfrm>
          <a:prstGeom prst="ellipse">
            <a:avLst/>
          </a:prstGeom>
          <a:solidFill>
            <a:srgbClr val="C8553D"/>
          </a:solidFill>
          <a:ln w="12700">
            <a:solidFill>
              <a:srgbClr val="C8553D"/>
            </a:solidFill>
            <a:prstDash val="solid"/>
          </a:ln>
        </p:spPr>
      </p:sp>
      <p:pic>
        <p:nvPicPr>
          <p:cNvPr id="6" name="Image 0" descr="preencoded.png">    </p:cNvPr>
          <p:cNvPicPr>
            <a:picLocks noChangeAspect="1"/>
          </p:cNvPicPr>
          <p:nvPr/>
        </p:nvPicPr>
        <p:blipFill>
          <a:blip r:embed="rId1"/>
          <a:stretch>
            <a:fillRect/>
          </a:stretch>
        </p:blipFill>
        <p:spPr>
          <a:xfrm>
            <a:off x="788670" y="1657350"/>
            <a:ext cx="297180" cy="297180"/>
          </a:xfrm>
          <a:prstGeom prst="rect">
            <a:avLst/>
          </a:prstGeom>
        </p:spPr>
      </p:pic>
      <p:sp>
        <p:nvSpPr>
          <p:cNvPr id="7" name="Text 4"/>
          <p:cNvSpPr txBox="1"/>
          <p:nvPr/>
        </p:nvSpPr>
        <p:spPr>
          <a:xfrm>
            <a:off x="1417320" y="1463040"/>
            <a:ext cx="292608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Dossier incomplet</a:t>
            </a:r>
            <a:endParaRPr lang="en-US" sz="1500" dirty="0"/>
          </a:p>
        </p:txBody>
      </p:sp>
      <p:sp>
        <p:nvSpPr>
          <p:cNvPr id="8" name="Text 5"/>
          <p:cNvSpPr txBox="1"/>
          <p:nvPr/>
        </p:nvSpPr>
        <p:spPr>
          <a:xfrm>
            <a:off x="1417320" y="1847088"/>
            <a:ext cx="292608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Réunir la pièce, saisir la valeur (0 si « aucun »), synchroniser, recalculer.</a:t>
            </a:r>
            <a:endParaRPr lang="en-US" sz="1200" dirty="0"/>
          </a:p>
        </p:txBody>
      </p:sp>
      <p:sp>
        <p:nvSpPr>
          <p:cNvPr id="9" name="Shape 6"/>
          <p:cNvSpPr/>
          <p:nvPr/>
        </p:nvSpPr>
        <p:spPr>
          <a:xfrm>
            <a:off x="4663440" y="1280160"/>
            <a:ext cx="4023360" cy="1508760"/>
          </a:xfrm>
          <a:prstGeom prst="roundRect">
            <a:avLst>
              <a:gd name="adj" fmla="val 4848"/>
            </a:avLst>
          </a:prstGeom>
          <a:solidFill>
            <a:srgbClr val="EEF2F8"/>
          </a:solidFill>
          <a:ln w="12700">
            <a:solidFill>
              <a:srgbClr val="EEF2F8"/>
            </a:solidFill>
            <a:prstDash val="solid"/>
          </a:ln>
        </p:spPr>
      </p:sp>
      <p:sp>
        <p:nvSpPr>
          <p:cNvPr id="10" name="Shape 7"/>
          <p:cNvSpPr/>
          <p:nvPr/>
        </p:nvSpPr>
        <p:spPr>
          <a:xfrm>
            <a:off x="4846320" y="1508760"/>
            <a:ext cx="594360" cy="594360"/>
          </a:xfrm>
          <a:prstGeom prst="ellipse">
            <a:avLst/>
          </a:prstGeom>
          <a:solidFill>
            <a:srgbClr val="1F3864"/>
          </a:solidFill>
          <a:ln w="12700">
            <a:solidFill>
              <a:srgbClr val="1F3864"/>
            </a:solidFill>
            <a:prstDash val="solid"/>
          </a:ln>
        </p:spPr>
      </p:sp>
      <p:pic>
        <p:nvPicPr>
          <p:cNvPr id="11" name="Image 1" descr="preencoded.png">    </p:cNvPr>
          <p:cNvPicPr>
            <a:picLocks noChangeAspect="1"/>
          </p:cNvPicPr>
          <p:nvPr/>
        </p:nvPicPr>
        <p:blipFill>
          <a:blip r:embed="rId2"/>
          <a:stretch>
            <a:fillRect/>
          </a:stretch>
        </p:blipFill>
        <p:spPr>
          <a:xfrm>
            <a:off x="4994910" y="1657350"/>
            <a:ext cx="297180" cy="297180"/>
          </a:xfrm>
          <a:prstGeom prst="rect">
            <a:avLst/>
          </a:prstGeom>
        </p:spPr>
      </p:pic>
      <p:sp>
        <p:nvSpPr>
          <p:cNvPr id="12" name="Text 8"/>
          <p:cNvSpPr txBox="1"/>
          <p:nvPr/>
        </p:nvSpPr>
        <p:spPr>
          <a:xfrm>
            <a:off x="5623560" y="1463040"/>
            <a:ext cx="292608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Condition à lever</a:t>
            </a:r>
            <a:endParaRPr lang="en-US" sz="1500" dirty="0"/>
          </a:p>
        </p:txBody>
      </p:sp>
      <p:sp>
        <p:nvSpPr>
          <p:cNvPr id="13" name="Text 9"/>
          <p:cNvSpPr txBox="1"/>
          <p:nvPr/>
        </p:nvSpPr>
        <p:spPr>
          <a:xfrm>
            <a:off x="5623560" y="1847088"/>
            <a:ext cx="292608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Apport ou foncier : indiquer la pièce attendue et sa date ; aucun tirage avant la levée.</a:t>
            </a:r>
            <a:endParaRPr lang="en-US" sz="1200" dirty="0"/>
          </a:p>
        </p:txBody>
      </p:sp>
      <p:sp>
        <p:nvSpPr>
          <p:cNvPr id="14" name="Shape 10"/>
          <p:cNvSpPr/>
          <p:nvPr/>
        </p:nvSpPr>
        <p:spPr>
          <a:xfrm>
            <a:off x="457200" y="2971800"/>
            <a:ext cx="4023360" cy="1508760"/>
          </a:xfrm>
          <a:prstGeom prst="roundRect">
            <a:avLst>
              <a:gd name="adj" fmla="val 4848"/>
            </a:avLst>
          </a:prstGeom>
          <a:solidFill>
            <a:srgbClr val="EEF2F8"/>
          </a:solidFill>
          <a:ln w="12700">
            <a:solidFill>
              <a:srgbClr val="EEF2F8"/>
            </a:solidFill>
            <a:prstDash val="solid"/>
          </a:ln>
        </p:spPr>
      </p:sp>
      <p:sp>
        <p:nvSpPr>
          <p:cNvPr id="15" name="Shape 11"/>
          <p:cNvSpPr/>
          <p:nvPr/>
        </p:nvSpPr>
        <p:spPr>
          <a:xfrm>
            <a:off x="640080" y="3200400"/>
            <a:ext cx="594360" cy="594360"/>
          </a:xfrm>
          <a:prstGeom prst="ellipse">
            <a:avLst/>
          </a:prstGeom>
          <a:solidFill>
            <a:srgbClr val="1F3864"/>
          </a:solidFill>
          <a:ln w="12700">
            <a:solidFill>
              <a:srgbClr val="1F3864"/>
            </a:solidFill>
            <a:prstDash val="solid"/>
          </a:ln>
        </p:spPr>
      </p:sp>
      <p:pic>
        <p:nvPicPr>
          <p:cNvPr id="16" name="Image 2" descr="preencoded.png">    </p:cNvPr>
          <p:cNvPicPr>
            <a:picLocks noChangeAspect="1"/>
          </p:cNvPicPr>
          <p:nvPr/>
        </p:nvPicPr>
        <p:blipFill>
          <a:blip r:embed="rId3"/>
          <a:stretch>
            <a:fillRect/>
          </a:stretch>
        </p:blipFill>
        <p:spPr>
          <a:xfrm>
            <a:off x="788670" y="3348990"/>
            <a:ext cx="297180" cy="297180"/>
          </a:xfrm>
          <a:prstGeom prst="rect">
            <a:avLst/>
          </a:prstGeom>
        </p:spPr>
      </p:pic>
      <p:sp>
        <p:nvSpPr>
          <p:cNvPr id="17" name="Text 12"/>
          <p:cNvSpPr txBox="1"/>
          <p:nvPr/>
        </p:nvSpPr>
        <p:spPr>
          <a:xfrm>
            <a:off x="1417320" y="3154680"/>
            <a:ext cx="292608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Alerte avec malus</a:t>
            </a:r>
            <a:endParaRPr lang="en-US" sz="1500" dirty="0"/>
          </a:p>
        </p:txBody>
      </p:sp>
      <p:sp>
        <p:nvSpPr>
          <p:cNvPr id="18" name="Text 13"/>
          <p:cNvSpPr txBox="1"/>
          <p:nvPr/>
        </p:nvSpPr>
        <p:spPr>
          <a:xfrm>
            <a:off x="1417320" y="3538728"/>
            <a:ext cx="292608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Documenter le mitigant : garantie, apport complémentaire, calendrier.</a:t>
            </a:r>
            <a:endParaRPr lang="en-US" sz="1200" dirty="0"/>
          </a:p>
        </p:txBody>
      </p:sp>
      <p:sp>
        <p:nvSpPr>
          <p:cNvPr id="19" name="Shape 14"/>
          <p:cNvSpPr/>
          <p:nvPr/>
        </p:nvSpPr>
        <p:spPr>
          <a:xfrm>
            <a:off x="4663440" y="2971800"/>
            <a:ext cx="4023360" cy="1508760"/>
          </a:xfrm>
          <a:prstGeom prst="roundRect">
            <a:avLst>
              <a:gd name="adj" fmla="val 4848"/>
            </a:avLst>
          </a:prstGeom>
          <a:solidFill>
            <a:srgbClr val="EEF2F8"/>
          </a:solidFill>
          <a:ln w="12700">
            <a:solidFill>
              <a:srgbClr val="EEF2F8"/>
            </a:solidFill>
            <a:prstDash val="solid"/>
          </a:ln>
        </p:spPr>
      </p:sp>
      <p:sp>
        <p:nvSpPr>
          <p:cNvPr id="20" name="Shape 15"/>
          <p:cNvSpPr/>
          <p:nvPr/>
        </p:nvSpPr>
        <p:spPr>
          <a:xfrm>
            <a:off x="4846320" y="3200400"/>
            <a:ext cx="594360" cy="594360"/>
          </a:xfrm>
          <a:prstGeom prst="ellipse">
            <a:avLst/>
          </a:prstGeom>
          <a:solidFill>
            <a:srgbClr val="1F3864"/>
          </a:solidFill>
          <a:ln w="12700">
            <a:solidFill>
              <a:srgbClr val="1F3864"/>
            </a:solidFill>
            <a:prstDash val="solid"/>
          </a:ln>
        </p:spPr>
      </p:sp>
      <p:pic>
        <p:nvPicPr>
          <p:cNvPr id="21" name="Image 3" descr="preencoded.png">    </p:cNvPr>
          <p:cNvPicPr>
            <a:picLocks noChangeAspect="1"/>
          </p:cNvPicPr>
          <p:nvPr/>
        </p:nvPicPr>
        <p:blipFill>
          <a:blip r:embed="rId4"/>
          <a:stretch>
            <a:fillRect/>
          </a:stretch>
        </p:blipFill>
        <p:spPr>
          <a:xfrm>
            <a:off x="4994910" y="3348990"/>
            <a:ext cx="297180" cy="297180"/>
          </a:xfrm>
          <a:prstGeom prst="rect">
            <a:avLst/>
          </a:prstGeom>
        </p:spPr>
      </p:pic>
      <p:sp>
        <p:nvSpPr>
          <p:cNvPr id="22" name="Text 16"/>
          <p:cNvSpPr txBox="1"/>
          <p:nvPr/>
        </p:nvSpPr>
        <p:spPr>
          <a:xfrm>
            <a:off x="5623560" y="3154680"/>
            <a:ext cx="292608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Retour en comité</a:t>
            </a:r>
            <a:endParaRPr lang="en-US" sz="1500" dirty="0"/>
          </a:p>
        </p:txBody>
      </p:sp>
      <p:sp>
        <p:nvSpPr>
          <p:cNvPr id="23" name="Text 17"/>
          <p:cNvSpPr txBox="1"/>
          <p:nvPr/>
        </p:nvSpPr>
        <p:spPr>
          <a:xfrm>
            <a:off x="5623560" y="3538728"/>
            <a:ext cx="2926080" cy="8686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Restructuration, retard ≥ 6 mois, mainlevée sous-tarifée, division des risques : préparer le passage.</a:t>
            </a:r>
            <a:endParaRPr lang="en-US" sz="1200" dirty="0"/>
          </a:p>
        </p:txBody>
      </p:sp>
      <p:sp>
        <p:nvSpPr>
          <p:cNvPr id="24" name="Text 18"/>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Le suivi après octroi</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Revues périodiques et événements</a:t>
            </a:r>
            <a:endParaRPr lang="en-US" sz="1300" dirty="0"/>
          </a:p>
        </p:txBody>
      </p:sp>
      <p:sp>
        <p:nvSpPr>
          <p:cNvPr id="4" name="Shape 2"/>
          <p:cNvSpPr/>
          <p:nvPr/>
        </p:nvSpPr>
        <p:spPr>
          <a:xfrm>
            <a:off x="457200" y="1280160"/>
            <a:ext cx="2651760" cy="1325880"/>
          </a:xfrm>
          <a:prstGeom prst="roundRect">
            <a:avLst>
              <a:gd name="adj" fmla="val 5517"/>
            </a:avLst>
          </a:prstGeom>
          <a:solidFill>
            <a:srgbClr val="EEF2F8"/>
          </a:solidFill>
          <a:ln w="12700">
            <a:solidFill>
              <a:srgbClr val="EEF2F8"/>
            </a:solidFill>
            <a:prstDash val="solid"/>
          </a:ln>
        </p:spPr>
      </p:sp>
      <p:sp>
        <p:nvSpPr>
          <p:cNvPr id="5" name="Text 3"/>
          <p:cNvSpPr txBox="1"/>
          <p:nvPr/>
        </p:nvSpPr>
        <p:spPr>
          <a:xfrm>
            <a:off x="457200" y="1325880"/>
            <a:ext cx="2651760" cy="731520"/>
          </a:xfrm>
          <a:prstGeom prst="rect">
            <a:avLst/>
          </a:prstGeom>
          <a:noFill/>
          <a:ln/>
        </p:spPr>
        <p:txBody>
          <a:bodyPr wrap="square" lIns="0" tIns="0" rIns="0" bIns="0" rtlCol="0" anchor="ctr"/>
          <a:lstStyle/>
          <a:p>
            <a:pPr algn="ctr" indent="0" marL="0">
              <a:buNone/>
            </a:pPr>
            <a:r>
              <a:rPr lang="en-US" sz="4000" b="1" dirty="0">
                <a:solidFill>
                  <a:srgbClr val="1F3864"/>
                </a:solidFill>
                <a:latin typeface="Cambria" pitchFamily="34" charset="0"/>
                <a:ea typeface="Cambria" pitchFamily="34" charset="-122"/>
                <a:cs typeface="Cambria" pitchFamily="34" charset="-120"/>
              </a:rPr>
              <a:t>365</a:t>
            </a:r>
            <a:endParaRPr lang="en-US" sz="4000" dirty="0"/>
          </a:p>
        </p:txBody>
      </p:sp>
      <p:sp>
        <p:nvSpPr>
          <p:cNvPr id="6" name="Text 4"/>
          <p:cNvSpPr txBox="1"/>
          <p:nvPr/>
        </p:nvSpPr>
        <p:spPr>
          <a:xfrm>
            <a:off x="457200" y="2057400"/>
            <a:ext cx="2651760" cy="365760"/>
          </a:xfrm>
          <a:prstGeom prst="rect">
            <a:avLst/>
          </a:prstGeom>
          <a:noFill/>
          <a:ln/>
        </p:spPr>
        <p:txBody>
          <a:bodyPr wrap="square" lIns="0" tIns="0" rIns="0" bIns="0" rtlCol="0" anchor="ctr"/>
          <a:lstStyle/>
          <a:p>
            <a:pPr algn="ctr" indent="0" marL="0">
              <a:buNone/>
            </a:pPr>
            <a:r>
              <a:rPr lang="en-US" sz="1200" dirty="0">
                <a:solidFill>
                  <a:srgbClr val="2B2B2B"/>
                </a:solidFill>
                <a:latin typeface="Calibri" pitchFamily="34" charset="0"/>
                <a:ea typeface="Calibri" pitchFamily="34" charset="-122"/>
                <a:cs typeface="Calibri" pitchFamily="34" charset="-120"/>
              </a:rPr>
              <a:t>jours — créance saine</a:t>
            </a:r>
            <a:endParaRPr lang="en-US" sz="1200" dirty="0"/>
          </a:p>
        </p:txBody>
      </p:sp>
      <p:sp>
        <p:nvSpPr>
          <p:cNvPr id="7" name="Shape 5"/>
          <p:cNvSpPr/>
          <p:nvPr/>
        </p:nvSpPr>
        <p:spPr>
          <a:xfrm>
            <a:off x="3246120" y="1280160"/>
            <a:ext cx="2651760" cy="1325880"/>
          </a:xfrm>
          <a:prstGeom prst="roundRect">
            <a:avLst>
              <a:gd name="adj" fmla="val 5517"/>
            </a:avLst>
          </a:prstGeom>
          <a:solidFill>
            <a:srgbClr val="EEF2F8"/>
          </a:solidFill>
          <a:ln w="12700">
            <a:solidFill>
              <a:srgbClr val="EEF2F8"/>
            </a:solidFill>
            <a:prstDash val="solid"/>
          </a:ln>
        </p:spPr>
      </p:sp>
      <p:sp>
        <p:nvSpPr>
          <p:cNvPr id="8" name="Text 6"/>
          <p:cNvSpPr txBox="1"/>
          <p:nvPr/>
        </p:nvSpPr>
        <p:spPr>
          <a:xfrm>
            <a:off x="3246120" y="1325880"/>
            <a:ext cx="2651760" cy="731520"/>
          </a:xfrm>
          <a:prstGeom prst="rect">
            <a:avLst/>
          </a:prstGeom>
          <a:noFill/>
          <a:ln/>
        </p:spPr>
        <p:txBody>
          <a:bodyPr wrap="square" lIns="0" tIns="0" rIns="0" bIns="0" rtlCol="0" anchor="ctr"/>
          <a:lstStyle/>
          <a:p>
            <a:pPr algn="ctr" indent="0" marL="0">
              <a:buNone/>
            </a:pPr>
            <a:r>
              <a:rPr lang="en-US" sz="4000" b="1" dirty="0">
                <a:solidFill>
                  <a:srgbClr val="1F3864"/>
                </a:solidFill>
                <a:latin typeface="Cambria" pitchFamily="34" charset="0"/>
                <a:ea typeface="Cambria" pitchFamily="34" charset="-122"/>
                <a:cs typeface="Cambria" pitchFamily="34" charset="-120"/>
              </a:rPr>
              <a:t>90</a:t>
            </a:r>
            <a:endParaRPr lang="en-US" sz="4000" dirty="0"/>
          </a:p>
        </p:txBody>
      </p:sp>
      <p:sp>
        <p:nvSpPr>
          <p:cNvPr id="9" name="Text 7"/>
          <p:cNvSpPr txBox="1"/>
          <p:nvPr/>
        </p:nvSpPr>
        <p:spPr>
          <a:xfrm>
            <a:off x="3246120" y="2057400"/>
            <a:ext cx="2651760" cy="365760"/>
          </a:xfrm>
          <a:prstGeom prst="rect">
            <a:avLst/>
          </a:prstGeom>
          <a:noFill/>
          <a:ln/>
        </p:spPr>
        <p:txBody>
          <a:bodyPr wrap="square" lIns="0" tIns="0" rIns="0" bIns="0" rtlCol="0" anchor="ctr"/>
          <a:lstStyle/>
          <a:p>
            <a:pPr algn="ctr" indent="0" marL="0">
              <a:buNone/>
            </a:pPr>
            <a:r>
              <a:rPr lang="en-US" sz="1200" dirty="0">
                <a:solidFill>
                  <a:srgbClr val="2B2B2B"/>
                </a:solidFill>
                <a:latin typeface="Calibri" pitchFamily="34" charset="0"/>
                <a:ea typeface="Calibri" pitchFamily="34" charset="-122"/>
                <a:cs typeface="Calibri" pitchFamily="34" charset="-120"/>
              </a:rPr>
              <a:t>jours — créance sensible</a:t>
            </a:r>
            <a:endParaRPr lang="en-US" sz="1200" dirty="0"/>
          </a:p>
        </p:txBody>
      </p:sp>
      <p:sp>
        <p:nvSpPr>
          <p:cNvPr id="10" name="Shape 8"/>
          <p:cNvSpPr/>
          <p:nvPr/>
        </p:nvSpPr>
        <p:spPr>
          <a:xfrm>
            <a:off x="6035040" y="1280160"/>
            <a:ext cx="2651760" cy="1325880"/>
          </a:xfrm>
          <a:prstGeom prst="roundRect">
            <a:avLst>
              <a:gd name="adj" fmla="val 5517"/>
            </a:avLst>
          </a:prstGeom>
          <a:solidFill>
            <a:srgbClr val="EEF2F8"/>
          </a:solidFill>
          <a:ln w="12700">
            <a:solidFill>
              <a:srgbClr val="EEF2F8"/>
            </a:solidFill>
            <a:prstDash val="solid"/>
          </a:ln>
        </p:spPr>
      </p:sp>
      <p:sp>
        <p:nvSpPr>
          <p:cNvPr id="11" name="Text 9"/>
          <p:cNvSpPr txBox="1"/>
          <p:nvPr/>
        </p:nvSpPr>
        <p:spPr>
          <a:xfrm>
            <a:off x="6035040" y="1325880"/>
            <a:ext cx="2651760" cy="731520"/>
          </a:xfrm>
          <a:prstGeom prst="rect">
            <a:avLst/>
          </a:prstGeom>
          <a:noFill/>
          <a:ln/>
        </p:spPr>
        <p:txBody>
          <a:bodyPr wrap="square" lIns="0" tIns="0" rIns="0" bIns="0" rtlCol="0" anchor="ctr"/>
          <a:lstStyle/>
          <a:p>
            <a:pPr algn="ctr" indent="0" marL="0">
              <a:buNone/>
            </a:pPr>
            <a:r>
              <a:rPr lang="en-US" sz="4000" b="1" dirty="0">
                <a:solidFill>
                  <a:srgbClr val="C8553D"/>
                </a:solidFill>
                <a:latin typeface="Cambria" pitchFamily="34" charset="0"/>
                <a:ea typeface="Cambria" pitchFamily="34" charset="-122"/>
                <a:cs typeface="Cambria" pitchFamily="34" charset="-120"/>
              </a:rPr>
              <a:t>30</a:t>
            </a:r>
            <a:endParaRPr lang="en-US" sz="4000" dirty="0"/>
          </a:p>
        </p:txBody>
      </p:sp>
      <p:sp>
        <p:nvSpPr>
          <p:cNvPr id="12" name="Text 10"/>
          <p:cNvSpPr txBox="1"/>
          <p:nvPr/>
        </p:nvSpPr>
        <p:spPr>
          <a:xfrm>
            <a:off x="6035040" y="2057400"/>
            <a:ext cx="2651760" cy="365760"/>
          </a:xfrm>
          <a:prstGeom prst="rect">
            <a:avLst/>
          </a:prstGeom>
          <a:noFill/>
          <a:ln/>
        </p:spPr>
        <p:txBody>
          <a:bodyPr wrap="square" lIns="0" tIns="0" rIns="0" bIns="0" rtlCol="0" anchor="ctr"/>
          <a:lstStyle/>
          <a:p>
            <a:pPr algn="ctr" indent="0" marL="0">
              <a:buNone/>
            </a:pPr>
            <a:r>
              <a:rPr lang="en-US" sz="1200" dirty="0">
                <a:solidFill>
                  <a:srgbClr val="2B2B2B"/>
                </a:solidFill>
                <a:latin typeface="Calibri" pitchFamily="34" charset="0"/>
                <a:ea typeface="Calibri" pitchFamily="34" charset="-122"/>
                <a:cs typeface="Calibri" pitchFamily="34" charset="-120"/>
              </a:rPr>
              <a:t>jours — créance en souffrance</a:t>
            </a:r>
            <a:endParaRPr lang="en-US" sz="1200" dirty="0"/>
          </a:p>
        </p:txBody>
      </p:sp>
      <p:sp>
        <p:nvSpPr>
          <p:cNvPr id="13" name="Text 11"/>
          <p:cNvSpPr txBox="1"/>
          <p:nvPr/>
        </p:nvSpPr>
        <p:spPr>
          <a:xfrm>
            <a:off x="457200" y="2788920"/>
            <a:ext cx="8229600" cy="32004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Événements imposant un retour en comité (et un nouveau calcul)</a:t>
            </a:r>
            <a:endParaRPr lang="en-US" sz="1400" dirty="0"/>
          </a:p>
        </p:txBody>
      </p:sp>
      <p:sp>
        <p:nvSpPr>
          <p:cNvPr id="14" name="Shape 12"/>
          <p:cNvSpPr/>
          <p:nvPr/>
        </p:nvSpPr>
        <p:spPr>
          <a:xfrm>
            <a:off x="457200" y="3200400"/>
            <a:ext cx="2651760" cy="365760"/>
          </a:xfrm>
          <a:prstGeom prst="roundRect">
            <a:avLst>
              <a:gd name="adj" fmla="val 15000"/>
            </a:avLst>
          </a:prstGeom>
          <a:solidFill>
            <a:srgbClr val="FBE9E5"/>
          </a:solidFill>
          <a:ln w="12700">
            <a:solidFill>
              <a:srgbClr val="FBE9E5"/>
            </a:solidFill>
            <a:prstDash val="solid"/>
          </a:ln>
        </p:spPr>
      </p:sp>
      <p:sp>
        <p:nvSpPr>
          <p:cNvPr id="15" name="Text 13"/>
          <p:cNvSpPr txBox="1"/>
          <p:nvPr/>
        </p:nvSpPr>
        <p:spPr>
          <a:xfrm>
            <a:off x="548640" y="32004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Avenant au crédit</a:t>
            </a:r>
            <a:endParaRPr lang="en-US" sz="1050" dirty="0"/>
          </a:p>
        </p:txBody>
      </p:sp>
      <p:sp>
        <p:nvSpPr>
          <p:cNvPr id="16" name="Shape 14"/>
          <p:cNvSpPr/>
          <p:nvPr/>
        </p:nvSpPr>
        <p:spPr>
          <a:xfrm>
            <a:off x="3246120" y="3200400"/>
            <a:ext cx="2651760" cy="365760"/>
          </a:xfrm>
          <a:prstGeom prst="roundRect">
            <a:avLst>
              <a:gd name="adj" fmla="val 15000"/>
            </a:avLst>
          </a:prstGeom>
          <a:solidFill>
            <a:srgbClr val="FBE9E5"/>
          </a:solidFill>
          <a:ln w="12700">
            <a:solidFill>
              <a:srgbClr val="FBE9E5"/>
            </a:solidFill>
            <a:prstDash val="solid"/>
          </a:ln>
        </p:spPr>
      </p:sp>
      <p:sp>
        <p:nvSpPr>
          <p:cNvPr id="17" name="Text 15"/>
          <p:cNvSpPr txBox="1"/>
          <p:nvPr/>
        </p:nvSpPr>
        <p:spPr>
          <a:xfrm>
            <a:off x="3337560" y="32004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Restructuration de la créance</a:t>
            </a:r>
            <a:endParaRPr lang="en-US" sz="1050" dirty="0"/>
          </a:p>
        </p:txBody>
      </p:sp>
      <p:sp>
        <p:nvSpPr>
          <p:cNvPr id="18" name="Shape 16"/>
          <p:cNvSpPr/>
          <p:nvPr/>
        </p:nvSpPr>
        <p:spPr>
          <a:xfrm>
            <a:off x="6035040" y="3200400"/>
            <a:ext cx="2651760" cy="365760"/>
          </a:xfrm>
          <a:prstGeom prst="roundRect">
            <a:avLst>
              <a:gd name="adj" fmla="val 15000"/>
            </a:avLst>
          </a:prstGeom>
          <a:solidFill>
            <a:srgbClr val="FBE9E5"/>
          </a:solidFill>
          <a:ln w="12700">
            <a:solidFill>
              <a:srgbClr val="FBE9E5"/>
            </a:solidFill>
            <a:prstDash val="solid"/>
          </a:ln>
        </p:spPr>
      </p:sp>
      <p:sp>
        <p:nvSpPr>
          <p:cNvPr id="19" name="Text 17"/>
          <p:cNvSpPr txBox="1"/>
          <p:nvPr/>
        </p:nvSpPr>
        <p:spPr>
          <a:xfrm>
            <a:off x="6126480" y="32004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Consolidation de dettes</a:t>
            </a:r>
            <a:endParaRPr lang="en-US" sz="1050" dirty="0"/>
          </a:p>
        </p:txBody>
      </p:sp>
      <p:sp>
        <p:nvSpPr>
          <p:cNvPr id="20" name="Shape 18"/>
          <p:cNvSpPr/>
          <p:nvPr/>
        </p:nvSpPr>
        <p:spPr>
          <a:xfrm>
            <a:off x="457200" y="3657600"/>
            <a:ext cx="2651760" cy="365760"/>
          </a:xfrm>
          <a:prstGeom prst="roundRect">
            <a:avLst>
              <a:gd name="adj" fmla="val 15000"/>
            </a:avLst>
          </a:prstGeom>
          <a:solidFill>
            <a:srgbClr val="FBE9E5"/>
          </a:solidFill>
          <a:ln w="12700">
            <a:solidFill>
              <a:srgbClr val="FBE9E5"/>
            </a:solidFill>
            <a:prstDash val="solid"/>
          </a:ln>
        </p:spPr>
      </p:sp>
      <p:sp>
        <p:nvSpPr>
          <p:cNvPr id="21" name="Text 19"/>
          <p:cNvSpPr txBox="1"/>
          <p:nvPr/>
        </p:nvSpPr>
        <p:spPr>
          <a:xfrm>
            <a:off x="548640" y="36576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Reprofilage / rééchelonnement de la dette</a:t>
            </a:r>
            <a:endParaRPr lang="en-US" sz="1050" dirty="0"/>
          </a:p>
        </p:txBody>
      </p:sp>
      <p:sp>
        <p:nvSpPr>
          <p:cNvPr id="22" name="Shape 20"/>
          <p:cNvSpPr/>
          <p:nvPr/>
        </p:nvSpPr>
        <p:spPr>
          <a:xfrm>
            <a:off x="3246120" y="3657600"/>
            <a:ext cx="2651760" cy="365760"/>
          </a:xfrm>
          <a:prstGeom prst="roundRect">
            <a:avLst>
              <a:gd name="adj" fmla="val 15000"/>
            </a:avLst>
          </a:prstGeom>
          <a:solidFill>
            <a:srgbClr val="FBE9E5"/>
          </a:solidFill>
          <a:ln w="12700">
            <a:solidFill>
              <a:srgbClr val="FBE9E5"/>
            </a:solidFill>
            <a:prstDash val="solid"/>
          </a:ln>
        </p:spPr>
      </p:sp>
      <p:sp>
        <p:nvSpPr>
          <p:cNvPr id="23" name="Text 21"/>
          <p:cNvSpPr txBox="1"/>
          <p:nvPr/>
        </p:nvSpPr>
        <p:spPr>
          <a:xfrm>
            <a:off x="3337560" y="36576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Arrêt de chantier</a:t>
            </a:r>
            <a:endParaRPr lang="en-US" sz="1050" dirty="0"/>
          </a:p>
        </p:txBody>
      </p:sp>
      <p:sp>
        <p:nvSpPr>
          <p:cNvPr id="24" name="Shape 22"/>
          <p:cNvSpPr/>
          <p:nvPr/>
        </p:nvSpPr>
        <p:spPr>
          <a:xfrm>
            <a:off x="6035040" y="3657600"/>
            <a:ext cx="2651760" cy="365760"/>
          </a:xfrm>
          <a:prstGeom prst="roundRect">
            <a:avLst>
              <a:gd name="adj" fmla="val 15000"/>
            </a:avLst>
          </a:prstGeom>
          <a:solidFill>
            <a:srgbClr val="FBE9E5"/>
          </a:solidFill>
          <a:ln w="12700">
            <a:solidFill>
              <a:srgbClr val="FBE9E5"/>
            </a:solidFill>
            <a:prstDash val="solid"/>
          </a:ln>
        </p:spPr>
      </p:sp>
      <p:sp>
        <p:nvSpPr>
          <p:cNvPr id="25" name="Text 23"/>
          <p:cNvSpPr txBox="1"/>
          <p:nvPr/>
        </p:nvSpPr>
        <p:spPr>
          <a:xfrm>
            <a:off x="6126480" y="36576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Modification d'un lot / d'une tranche</a:t>
            </a:r>
            <a:endParaRPr lang="en-US" sz="1050" dirty="0"/>
          </a:p>
        </p:txBody>
      </p:sp>
      <p:sp>
        <p:nvSpPr>
          <p:cNvPr id="26" name="Shape 24"/>
          <p:cNvSpPr/>
          <p:nvPr/>
        </p:nvSpPr>
        <p:spPr>
          <a:xfrm>
            <a:off x="457200" y="4114800"/>
            <a:ext cx="2651760" cy="365760"/>
          </a:xfrm>
          <a:prstGeom prst="roundRect">
            <a:avLst>
              <a:gd name="adj" fmla="val 15000"/>
            </a:avLst>
          </a:prstGeom>
          <a:solidFill>
            <a:srgbClr val="FBE9E5"/>
          </a:solidFill>
          <a:ln w="12700">
            <a:solidFill>
              <a:srgbClr val="FBE9E5"/>
            </a:solidFill>
            <a:prstDash val="solid"/>
          </a:ln>
        </p:spPr>
      </p:sp>
      <p:sp>
        <p:nvSpPr>
          <p:cNvPr id="27" name="Text 25"/>
          <p:cNvSpPr txBox="1"/>
          <p:nvPr/>
        </p:nvSpPr>
        <p:spPr>
          <a:xfrm>
            <a:off x="548640" y="41148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Constitution / changement de garantie</a:t>
            </a:r>
            <a:endParaRPr lang="en-US" sz="1050" dirty="0"/>
          </a:p>
        </p:txBody>
      </p:sp>
      <p:sp>
        <p:nvSpPr>
          <p:cNvPr id="28" name="Shape 26"/>
          <p:cNvSpPr/>
          <p:nvPr/>
        </p:nvSpPr>
        <p:spPr>
          <a:xfrm>
            <a:off x="3246120" y="4114800"/>
            <a:ext cx="2651760" cy="365760"/>
          </a:xfrm>
          <a:prstGeom prst="roundRect">
            <a:avLst>
              <a:gd name="adj" fmla="val 15000"/>
            </a:avLst>
          </a:prstGeom>
          <a:solidFill>
            <a:srgbClr val="FBE9E5"/>
          </a:solidFill>
          <a:ln w="12700">
            <a:solidFill>
              <a:srgbClr val="FBE9E5"/>
            </a:solidFill>
            <a:prstDash val="solid"/>
          </a:ln>
        </p:spPr>
      </p:sp>
      <p:sp>
        <p:nvSpPr>
          <p:cNvPr id="29" name="Text 27"/>
          <p:cNvSpPr txBox="1"/>
          <p:nvPr/>
        </p:nvSpPr>
        <p:spPr>
          <a:xfrm>
            <a:off x="3337560" y="4114800"/>
            <a:ext cx="2468880" cy="365760"/>
          </a:xfrm>
          <a:prstGeom prst="rect">
            <a:avLst/>
          </a:prstGeom>
          <a:noFill/>
          <a:ln/>
        </p:spPr>
        <p:txBody>
          <a:bodyPr wrap="square" lIns="0" tIns="0" rIns="0" bIns="0" rtlCol="0" anchor="ctr"/>
          <a:lstStyle/>
          <a:p>
            <a:pPr indent="0" marL="0">
              <a:buNone/>
            </a:pPr>
            <a:r>
              <a:rPr lang="en-US" sz="1050" dirty="0">
                <a:solidFill>
                  <a:srgbClr val="8A2E1C"/>
                </a:solidFill>
                <a:latin typeface="Calibri" pitchFamily="34" charset="0"/>
                <a:ea typeface="Calibri" pitchFamily="34" charset="-122"/>
                <a:cs typeface="Calibri" pitchFamily="34" charset="-120"/>
              </a:rPr>
              <a:t>Changement d'actionnariat / gouvernance</a:t>
            </a:r>
            <a:endParaRPr lang="en-US" sz="1050" dirty="0"/>
          </a:p>
        </p:txBody>
      </p:sp>
      <p:sp>
        <p:nvSpPr>
          <p:cNvPr id="30" name="Text 28"/>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L'outil Excel, hors application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Même calcul que l'application — vérifié sur 26 cas de référence</a:t>
            </a:r>
            <a:endParaRPr lang="en-US" sz="1300" dirty="0"/>
          </a:p>
        </p:txBody>
      </p:sp>
      <p:sp>
        <p:nvSpPr>
          <p:cNvPr id="4" name="Shape 2"/>
          <p:cNvSpPr/>
          <p:nvPr/>
        </p:nvSpPr>
        <p:spPr>
          <a:xfrm>
            <a:off x="457200" y="1298448"/>
            <a:ext cx="402336" cy="402336"/>
          </a:xfrm>
          <a:prstGeom prst="ellipse">
            <a:avLst/>
          </a:prstGeom>
          <a:solidFill>
            <a:srgbClr val="1F3864"/>
          </a:solidFill>
          <a:ln w="12700">
            <a:solidFill>
              <a:srgbClr val="1F3864"/>
            </a:solidFill>
            <a:prstDash val="solid"/>
          </a:ln>
        </p:spPr>
      </p:sp>
      <p:sp>
        <p:nvSpPr>
          <p:cNvPr id="5" name="Text 3"/>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05840" y="128016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Nouveau dossier  </a:t>
            </a:r>
            <a:pPr indent="0" marL="0">
              <a:buNone/>
            </a:pPr>
            <a:r>
              <a:rPr lang="en-US" sz="1250" dirty="0">
                <a:solidFill>
                  <a:srgbClr val="2B2B2B"/>
                </a:solidFill>
                <a:latin typeface="Calibri" pitchFamily="34" charset="0"/>
                <a:ea typeface="Calibri" pitchFamily="34" charset="-122"/>
                <a:cs typeface="Calibri" pitchFamily="34" charset="-120"/>
              </a:rPr>
              <a:t>vide la saisie et les calculateurs</a:t>
            </a:r>
            <a:endParaRPr lang="en-US" sz="1250" dirty="0"/>
          </a:p>
        </p:txBody>
      </p:sp>
      <p:sp>
        <p:nvSpPr>
          <p:cNvPr id="7" name="Shape 5"/>
          <p:cNvSpPr/>
          <p:nvPr/>
        </p:nvSpPr>
        <p:spPr>
          <a:xfrm>
            <a:off x="457200" y="1847088"/>
            <a:ext cx="402336" cy="402336"/>
          </a:xfrm>
          <a:prstGeom prst="ellipse">
            <a:avLst/>
          </a:prstGeom>
          <a:solidFill>
            <a:srgbClr val="1F3864"/>
          </a:solidFill>
          <a:ln w="12700">
            <a:solidFill>
              <a:srgbClr val="1F3864"/>
            </a:solidFill>
            <a:prstDash val="solid"/>
          </a:ln>
        </p:spPr>
      </p:sp>
      <p:sp>
        <p:nvSpPr>
          <p:cNvPr id="8" name="Text 6"/>
          <p:cNvSpPr txBox="1"/>
          <p:nvPr/>
        </p:nvSpPr>
        <p:spPr>
          <a:xfrm>
            <a:off x="457200" y="18470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05840" y="182880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Saisie  </a:t>
            </a:r>
            <a:pPr indent="0" marL="0">
              <a:buNone/>
            </a:pPr>
            <a:r>
              <a:rPr lang="en-US" sz="1250" dirty="0">
                <a:solidFill>
                  <a:srgbClr val="2B2B2B"/>
                </a:solidFill>
                <a:latin typeface="Calibri" pitchFamily="34" charset="0"/>
                <a:ea typeface="Calibri" pitchFamily="34" charset="-122"/>
                <a:cs typeface="Calibri" pitchFamily="34" charset="-120"/>
              </a:rPr>
              <a:t>cellules jaunes ; vide = absent</a:t>
            </a:r>
            <a:endParaRPr lang="en-US" sz="1250" dirty="0"/>
          </a:p>
        </p:txBody>
      </p:sp>
      <p:sp>
        <p:nvSpPr>
          <p:cNvPr id="10" name="Shape 8"/>
          <p:cNvSpPr/>
          <p:nvPr/>
        </p:nvSpPr>
        <p:spPr>
          <a:xfrm>
            <a:off x="457200" y="2395728"/>
            <a:ext cx="402336" cy="402336"/>
          </a:xfrm>
          <a:prstGeom prst="ellipse">
            <a:avLst/>
          </a:prstGeom>
          <a:solidFill>
            <a:srgbClr val="1F3864"/>
          </a:solidFill>
          <a:ln w="12700">
            <a:solidFill>
              <a:srgbClr val="1F3864"/>
            </a:solidFill>
            <a:prstDash val="solid"/>
          </a:ln>
        </p:spPr>
      </p:sp>
      <p:sp>
        <p:nvSpPr>
          <p:cNvPr id="11" name="Text 9"/>
          <p:cNvSpPr txBox="1"/>
          <p:nvPr/>
        </p:nvSpPr>
        <p:spPr>
          <a:xfrm>
            <a:off x="457200" y="23957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05840" y="237744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Calculateurs  </a:t>
            </a:r>
            <a:pPr indent="0" marL="0">
              <a:buNone/>
            </a:pPr>
            <a:r>
              <a:rPr lang="en-US" sz="1250" dirty="0">
                <a:solidFill>
                  <a:srgbClr val="2B2B2B"/>
                </a:solidFill>
                <a:latin typeface="Calibri" pitchFamily="34" charset="0"/>
                <a:ea typeface="Calibri" pitchFamily="34" charset="-122"/>
                <a:cs typeface="Calibri" pitchFamily="34" charset="-120"/>
              </a:rPr>
              <a:t>autorisations, ventes sécurisées, quotité, division des risques, arrêt</a:t>
            </a:r>
            <a:endParaRPr lang="en-US" sz="1250" dirty="0"/>
          </a:p>
        </p:txBody>
      </p:sp>
      <p:sp>
        <p:nvSpPr>
          <p:cNvPr id="13" name="Shape 11"/>
          <p:cNvSpPr/>
          <p:nvPr/>
        </p:nvSpPr>
        <p:spPr>
          <a:xfrm>
            <a:off x="457200" y="2944368"/>
            <a:ext cx="402336" cy="402336"/>
          </a:xfrm>
          <a:prstGeom prst="ellipse">
            <a:avLst/>
          </a:prstGeom>
          <a:solidFill>
            <a:srgbClr val="1F3864"/>
          </a:solidFill>
          <a:ln w="12700">
            <a:solidFill>
              <a:srgbClr val="1F3864"/>
            </a:solidFill>
            <a:prstDash val="solid"/>
          </a:ln>
        </p:spPr>
      </p:sp>
      <p:sp>
        <p:nvSpPr>
          <p:cNvPr id="14" name="Text 12"/>
          <p:cNvSpPr txBox="1"/>
          <p:nvPr/>
        </p:nvSpPr>
        <p:spPr>
          <a:xfrm>
            <a:off x="457200" y="2944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005840" y="292608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Résultat  </a:t>
            </a:r>
            <a:pPr indent="0" marL="0">
              <a:buNone/>
            </a:pPr>
            <a:r>
              <a:rPr lang="en-US" sz="1250" dirty="0">
                <a:solidFill>
                  <a:srgbClr val="2B2B2B"/>
                </a:solidFill>
                <a:latin typeface="Calibri" pitchFamily="34" charset="0"/>
                <a:ea typeface="Calibri" pitchFamily="34" charset="-122"/>
                <a:cs typeface="Calibri" pitchFamily="34" charset="-120"/>
              </a:rPr>
              <a:t>décision, données manquantes, conditions</a:t>
            </a:r>
            <a:endParaRPr lang="en-US" sz="1250" dirty="0"/>
          </a:p>
        </p:txBody>
      </p:sp>
      <p:sp>
        <p:nvSpPr>
          <p:cNvPr id="16" name="Shape 14"/>
          <p:cNvSpPr/>
          <p:nvPr/>
        </p:nvSpPr>
        <p:spPr>
          <a:xfrm>
            <a:off x="457200" y="3493008"/>
            <a:ext cx="402336" cy="402336"/>
          </a:xfrm>
          <a:prstGeom prst="ellipse">
            <a:avLst/>
          </a:prstGeom>
          <a:solidFill>
            <a:srgbClr val="1F3864"/>
          </a:solidFill>
          <a:ln w="12700">
            <a:solidFill>
              <a:srgbClr val="1F3864"/>
            </a:solidFill>
            <a:prstDash val="solid"/>
          </a:ln>
        </p:spPr>
      </p:sp>
      <p:sp>
        <p:nvSpPr>
          <p:cNvPr id="17" name="Text 15"/>
          <p:cNvSpPr txBox="1"/>
          <p:nvPr/>
        </p:nvSpPr>
        <p:spPr>
          <a:xfrm>
            <a:off x="457200" y="34930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005840" y="347472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Stress test  </a:t>
            </a:r>
            <a:pPr indent="0" marL="0">
              <a:buNone/>
            </a:pPr>
            <a:r>
              <a:rPr lang="en-US" sz="1250" dirty="0">
                <a:solidFill>
                  <a:srgbClr val="2B2B2B"/>
                </a:solidFill>
                <a:latin typeface="Calibri" pitchFamily="34" charset="0"/>
                <a:ea typeface="Calibri" pitchFamily="34" charset="-122"/>
                <a:cs typeface="Calibri" pitchFamily="34" charset="-120"/>
              </a:rPr>
              <a:t>prix, coût, retard, ventes, taux</a:t>
            </a:r>
            <a:endParaRPr lang="en-US" sz="1250" dirty="0"/>
          </a:p>
        </p:txBody>
      </p:sp>
      <p:sp>
        <p:nvSpPr>
          <p:cNvPr id="19" name="Shape 17"/>
          <p:cNvSpPr/>
          <p:nvPr/>
        </p:nvSpPr>
        <p:spPr>
          <a:xfrm>
            <a:off x="457200" y="4041648"/>
            <a:ext cx="402336" cy="402336"/>
          </a:xfrm>
          <a:prstGeom prst="ellipse">
            <a:avLst/>
          </a:prstGeom>
          <a:solidFill>
            <a:srgbClr val="1F3864"/>
          </a:solidFill>
          <a:ln w="12700">
            <a:solidFill>
              <a:srgbClr val="1F3864"/>
            </a:solidFill>
            <a:prstDash val="solid"/>
          </a:ln>
        </p:spPr>
      </p:sp>
      <p:sp>
        <p:nvSpPr>
          <p:cNvPr id="20" name="Text 18"/>
          <p:cNvSpPr txBox="1"/>
          <p:nvPr/>
        </p:nvSpPr>
        <p:spPr>
          <a:xfrm>
            <a:off x="457200" y="4041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txBox="1"/>
          <p:nvPr/>
        </p:nvSpPr>
        <p:spPr>
          <a:xfrm>
            <a:off x="1005840" y="4023360"/>
            <a:ext cx="4572000" cy="43891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Export PDF  </a:t>
            </a:r>
            <a:pPr indent="0" marL="0">
              <a:buNone/>
            </a:pPr>
            <a:r>
              <a:rPr lang="en-US" sz="1250" dirty="0">
                <a:solidFill>
                  <a:srgbClr val="2B2B2B"/>
                </a:solidFill>
                <a:latin typeface="Calibri" pitchFamily="34" charset="0"/>
                <a:ea typeface="Calibri" pitchFamily="34" charset="-122"/>
                <a:cs typeface="Calibri" pitchFamily="34" charset="-120"/>
              </a:rPr>
              <a:t>à joindre à la note</a:t>
            </a:r>
            <a:endParaRPr lang="en-US" sz="1250" dirty="0"/>
          </a:p>
        </p:txBody>
      </p:sp>
      <p:sp>
        <p:nvSpPr>
          <p:cNvPr id="22" name="Shape 20"/>
          <p:cNvSpPr/>
          <p:nvPr/>
        </p:nvSpPr>
        <p:spPr>
          <a:xfrm>
            <a:off x="5943600" y="1280160"/>
            <a:ext cx="2743200" cy="3154680"/>
          </a:xfrm>
          <a:prstGeom prst="roundRect">
            <a:avLst>
              <a:gd name="adj" fmla="val 2667"/>
            </a:avLst>
          </a:prstGeom>
          <a:solidFill>
            <a:srgbClr val="EEF2F8"/>
          </a:solidFill>
          <a:ln w="12700">
            <a:solidFill>
              <a:srgbClr val="EEF2F8"/>
            </a:solidFill>
            <a:prstDash val="solid"/>
          </a:ln>
        </p:spPr>
      </p:sp>
      <p:sp>
        <p:nvSpPr>
          <p:cNvPr id="23" name="Shape 21"/>
          <p:cNvSpPr/>
          <p:nvPr/>
        </p:nvSpPr>
        <p:spPr>
          <a:xfrm>
            <a:off x="6903720" y="1463040"/>
            <a:ext cx="822960" cy="822960"/>
          </a:xfrm>
          <a:prstGeom prst="ellipse">
            <a:avLst/>
          </a:prstGeom>
          <a:solidFill>
            <a:srgbClr val="2A7F8E"/>
          </a:solidFill>
          <a:ln w="12700">
            <a:solidFill>
              <a:srgbClr val="2A7F8E"/>
            </a:solidFill>
            <a:prstDash val="solid"/>
          </a:ln>
        </p:spPr>
      </p:sp>
      <p:pic>
        <p:nvPicPr>
          <p:cNvPr id="24" name="Image 0" descr="preencoded.png">    </p:cNvPr>
          <p:cNvPicPr>
            <a:picLocks noChangeAspect="1"/>
          </p:cNvPicPr>
          <p:nvPr/>
        </p:nvPicPr>
        <p:blipFill>
          <a:blip r:embed="rId1"/>
          <a:stretch>
            <a:fillRect/>
          </a:stretch>
        </p:blipFill>
        <p:spPr>
          <a:xfrm>
            <a:off x="7109460" y="1668780"/>
            <a:ext cx="411480" cy="411480"/>
          </a:xfrm>
          <a:prstGeom prst="rect">
            <a:avLst/>
          </a:prstGeom>
        </p:spPr>
      </p:pic>
      <p:sp>
        <p:nvSpPr>
          <p:cNvPr id="25" name="Text 22"/>
          <p:cNvSpPr txBox="1"/>
          <p:nvPr/>
        </p:nvSpPr>
        <p:spPr>
          <a:xfrm>
            <a:off x="5943600" y="2377440"/>
            <a:ext cx="2743200" cy="548640"/>
          </a:xfrm>
          <a:prstGeom prst="rect">
            <a:avLst/>
          </a:prstGeom>
          <a:noFill/>
          <a:ln/>
        </p:spPr>
        <p:txBody>
          <a:bodyPr wrap="square" lIns="0" tIns="0" rIns="0" bIns="0" rtlCol="0" anchor="ctr"/>
          <a:lstStyle/>
          <a:p>
            <a:pPr algn="ctr" indent="0" marL="0">
              <a:buNone/>
            </a:pPr>
            <a:r>
              <a:rPr lang="en-US" sz="3000" b="1" dirty="0">
                <a:solidFill>
                  <a:srgbClr val="2A7F8E"/>
                </a:solidFill>
                <a:latin typeface="Cambria" pitchFamily="34" charset="0"/>
                <a:ea typeface="Cambria" pitchFamily="34" charset="-122"/>
                <a:cs typeface="Cambria" pitchFamily="34" charset="-120"/>
              </a:rPr>
              <a:t>20 / 20</a:t>
            </a:r>
            <a:endParaRPr lang="en-US" sz="3000" dirty="0"/>
          </a:p>
        </p:txBody>
      </p:sp>
      <p:sp>
        <p:nvSpPr>
          <p:cNvPr id="26" name="Text 23"/>
          <p:cNvSpPr txBox="1"/>
          <p:nvPr/>
        </p:nvSpPr>
        <p:spPr>
          <a:xfrm>
            <a:off x="6126480" y="2926080"/>
            <a:ext cx="2377440" cy="1371600"/>
          </a:xfrm>
          <a:prstGeom prst="rect">
            <a:avLst/>
          </a:prstGeom>
          <a:noFill/>
          <a:ln/>
        </p:spPr>
        <p:txBody>
          <a:bodyPr wrap="square" lIns="0" tIns="0" rIns="0" bIns="0" rtlCol="0" anchor="t"/>
          <a:lstStyle/>
          <a:p>
            <a:pPr algn="ctr" indent="0" marL="0">
              <a:buNone/>
            </a:pPr>
            <a:r>
              <a:rPr lang="en-US" sz="1150" dirty="0">
                <a:solidFill>
                  <a:srgbClr val="2B2B2B"/>
                </a:solidFill>
                <a:latin typeface="Calibri" pitchFamily="34" charset="0"/>
                <a:ea typeface="Calibri" pitchFamily="34" charset="-122"/>
                <a:cs typeface="Calibri" pitchFamily="34" charset="-120"/>
              </a:rPr>
              <a:t>cas de référence conformes ; macros exécutées de bout en bout. La décision officielle se prend dans l'application.</a:t>
            </a:r>
            <a:endParaRPr lang="en-US" sz="1150" dirty="0"/>
          </a:p>
        </p:txBody>
      </p:sp>
      <p:sp>
        <p:nvSpPr>
          <p:cNvPr id="27" name="Text 24"/>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À faire, à éviter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5F6B7A"/>
                </a:solidFill>
                <a:latin typeface="Calibri" pitchFamily="34" charset="0"/>
                <a:ea typeface="Calibri" pitchFamily="34" charset="-122"/>
                <a:cs typeface="Calibri" pitchFamily="34" charset="-120"/>
              </a:rPr>
              <a:t>Les erreurs qui faussent une note</a:t>
            </a:r>
            <a:endParaRPr lang="en-US" sz="1300" dirty="0"/>
          </a:p>
        </p:txBody>
      </p:sp>
      <p:sp>
        <p:nvSpPr>
          <p:cNvPr id="4" name="Shape 2"/>
          <p:cNvSpPr/>
          <p:nvPr/>
        </p:nvSpPr>
        <p:spPr>
          <a:xfrm>
            <a:off x="457200" y="1280160"/>
            <a:ext cx="4023360" cy="3291840"/>
          </a:xfrm>
          <a:prstGeom prst="roundRect">
            <a:avLst>
              <a:gd name="adj" fmla="val 2222"/>
            </a:avLst>
          </a:prstGeom>
          <a:solidFill>
            <a:srgbClr val="EEF2F8"/>
          </a:solidFill>
          <a:ln w="12700">
            <a:solidFill>
              <a:srgbClr val="EEF2F8"/>
            </a:solidFill>
            <a:prstDash val="solid"/>
          </a:ln>
        </p:spPr>
      </p:sp>
      <p:sp>
        <p:nvSpPr>
          <p:cNvPr id="5" name="Shape 3"/>
          <p:cNvSpPr/>
          <p:nvPr/>
        </p:nvSpPr>
        <p:spPr>
          <a:xfrm>
            <a:off x="640080" y="1417320"/>
            <a:ext cx="457200" cy="457200"/>
          </a:xfrm>
          <a:prstGeom prst="ellipse">
            <a:avLst/>
          </a:prstGeom>
          <a:solidFill>
            <a:srgbClr val="2E7D32"/>
          </a:solidFill>
          <a:ln w="12700">
            <a:solidFill>
              <a:srgbClr val="2E7D32"/>
            </a:solidFill>
            <a:prstDash val="solid"/>
          </a:ln>
        </p:spPr>
      </p:sp>
      <p:pic>
        <p:nvPicPr>
          <p:cNvPr id="6"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7" name="Text 4"/>
          <p:cNvSpPr txBox="1"/>
          <p:nvPr/>
        </p:nvSpPr>
        <p:spPr>
          <a:xfrm>
            <a:off x="1234440" y="1444752"/>
            <a:ext cx="3017520" cy="411480"/>
          </a:xfrm>
          <a:prstGeom prst="rect">
            <a:avLst/>
          </a:prstGeom>
          <a:noFill/>
          <a:ln/>
        </p:spPr>
        <p:txBody>
          <a:bodyPr wrap="square" lIns="0" tIns="0" rIns="0" bIns="0"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À faire</a:t>
            </a:r>
            <a:endParaRPr lang="en-US" sz="1600" dirty="0"/>
          </a:p>
        </p:txBody>
      </p:sp>
      <p:sp>
        <p:nvSpPr>
          <p:cNvPr id="8" name="Text 5"/>
          <p:cNvSpPr txBox="1"/>
          <p:nvPr/>
        </p:nvSpPr>
        <p:spPr>
          <a:xfrm>
            <a:off x="731520" y="2011680"/>
            <a:ext cx="3566160"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Laisser vide une donnée inconnue et réunir la pièce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Saisir 0 quand il n'y a vraiment ni impayé, ni retard</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Synchroniser juste avant chaque calcul</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Valeur d'expertise indépendante pour la LTV</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Déclarer tous les liens du groupe</a:t>
            </a:r>
            <a:endParaRPr lang="en-US" sz="1250" dirty="0"/>
          </a:p>
        </p:txBody>
      </p:sp>
      <p:sp>
        <p:nvSpPr>
          <p:cNvPr id="9" name="Shape 6"/>
          <p:cNvSpPr/>
          <p:nvPr/>
        </p:nvSpPr>
        <p:spPr>
          <a:xfrm>
            <a:off x="4663440" y="1280160"/>
            <a:ext cx="4023360" cy="3291840"/>
          </a:xfrm>
          <a:prstGeom prst="roundRect">
            <a:avLst>
              <a:gd name="adj" fmla="val 2222"/>
            </a:avLst>
          </a:prstGeom>
          <a:solidFill>
            <a:srgbClr val="EEF2F8"/>
          </a:solidFill>
          <a:ln w="12700">
            <a:solidFill>
              <a:srgbClr val="EEF2F8"/>
            </a:solidFill>
            <a:prstDash val="solid"/>
          </a:ln>
        </p:spPr>
      </p:sp>
      <p:sp>
        <p:nvSpPr>
          <p:cNvPr id="10" name="Shape 7"/>
          <p:cNvSpPr/>
          <p:nvPr/>
        </p:nvSpPr>
        <p:spPr>
          <a:xfrm>
            <a:off x="4846320" y="1417320"/>
            <a:ext cx="457200" cy="457200"/>
          </a:xfrm>
          <a:prstGeom prst="ellipse">
            <a:avLst/>
          </a:prstGeom>
          <a:solidFill>
            <a:srgbClr val="C62828"/>
          </a:solidFill>
          <a:ln w="12700">
            <a:solidFill>
              <a:srgbClr val="C62828"/>
            </a:solidFill>
            <a:prstDash val="solid"/>
          </a:ln>
        </p:spPr>
      </p:sp>
      <p:pic>
        <p:nvPicPr>
          <p:cNvPr id="11" name="Image 1" descr="preencoded.png">    </p:cNvPr>
          <p:cNvPicPr>
            <a:picLocks noChangeAspect="1"/>
          </p:cNvPicPr>
          <p:nvPr/>
        </p:nvPicPr>
        <p:blipFill>
          <a:blip r:embed="rId2"/>
          <a:stretch>
            <a:fillRect/>
          </a:stretch>
        </p:blipFill>
        <p:spPr>
          <a:xfrm>
            <a:off x="4960620" y="1531620"/>
            <a:ext cx="228600" cy="228600"/>
          </a:xfrm>
          <a:prstGeom prst="rect">
            <a:avLst/>
          </a:prstGeom>
        </p:spPr>
      </p:pic>
      <p:sp>
        <p:nvSpPr>
          <p:cNvPr id="12" name="Text 8"/>
          <p:cNvSpPr txBox="1"/>
          <p:nvPr/>
        </p:nvSpPr>
        <p:spPr>
          <a:xfrm>
            <a:off x="5440680" y="1444752"/>
            <a:ext cx="3017520" cy="411480"/>
          </a:xfrm>
          <a:prstGeom prst="rect">
            <a:avLst/>
          </a:prstGeom>
          <a:noFill/>
          <a:ln/>
        </p:spPr>
        <p:txBody>
          <a:bodyPr wrap="square" lIns="0" tIns="0" rIns="0" bIns="0" rtlCol="0" anchor="ctr"/>
          <a:lstStyle/>
          <a:p>
            <a:pPr indent="0" marL="0">
              <a:buNone/>
            </a:pPr>
            <a:r>
              <a:rPr lang="en-US" sz="1600" b="1" dirty="0">
                <a:solidFill>
                  <a:srgbClr val="C62828"/>
                </a:solidFill>
                <a:latin typeface="Calibri" pitchFamily="34" charset="0"/>
                <a:ea typeface="Calibri" pitchFamily="34" charset="-122"/>
                <a:cs typeface="Calibri" pitchFamily="34" charset="-120"/>
              </a:rPr>
              <a:t>À éviter</a:t>
            </a:r>
            <a:endParaRPr lang="en-US" sz="1600" dirty="0"/>
          </a:p>
        </p:txBody>
      </p:sp>
      <p:sp>
        <p:nvSpPr>
          <p:cNvPr id="13" name="Text 9"/>
          <p:cNvSpPr txBox="1"/>
          <p:nvPr/>
        </p:nvSpPr>
        <p:spPr>
          <a:xfrm>
            <a:off x="4937760" y="2011680"/>
            <a:ext cx="3566160"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Saisir 0 « pour avancer »</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Compter un apport promis comme injecté</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Segment ou zone hors des listes du modèle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Appliquer la lecture IA sans vérifier</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Présenter un score « version retirée »</a:t>
            </a:r>
            <a:endParaRPr lang="en-US" sz="1250" dirty="0"/>
          </a:p>
        </p:txBody>
      </p:sp>
      <p:sp>
        <p:nvSpPr>
          <p:cNvPr id="14" name="Text 10"/>
          <p:cNvSpPr txBox="1"/>
          <p:nvPr/>
        </p:nvSpPr>
        <p:spPr>
          <a:xfrm>
            <a:off x="5029200" y="4828032"/>
            <a:ext cx="3657600" cy="22860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Guide du chargé d'affaires · modèle v5.0.0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864"/>
        </a:solidFill>
      </p:bgPr>
    </p:bg>
    <p:spTree>
      <p:nvGrpSpPr>
        <p:cNvPr id="1" name=""/>
        <p:cNvGrpSpPr/>
        <p:nvPr/>
      </p:nvGrpSpPr>
      <p:grpSpPr>
        <a:xfrm>
          <a:off x="0" y="0"/>
          <a:ext cx="0" cy="0"/>
          <a:chOff x="0" y="0"/>
          <a:chExt cx="0" cy="0"/>
        </a:xfrm>
      </p:grpSpPr>
      <p:sp>
        <p:nvSpPr>
          <p:cNvPr id="2" name="Text 0"/>
          <p:cNvSpPr txBox="1"/>
          <p:nvPr/>
        </p:nvSpPr>
        <p:spPr>
          <a:xfrm>
            <a:off x="548640" y="128016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Votre check-list</a:t>
            </a:r>
            <a:endParaRPr lang="en-US" sz="3600" dirty="0"/>
          </a:p>
        </p:txBody>
      </p:sp>
      <p:sp>
        <p:nvSpPr>
          <p:cNvPr id="3" name="Text 1"/>
          <p:cNvSpPr txBox="1"/>
          <p:nvPr/>
        </p:nvSpPr>
        <p:spPr>
          <a:xfrm>
            <a:off x="548640" y="2057400"/>
            <a:ext cx="8046720" cy="457200"/>
          </a:xfrm>
          <a:prstGeom prst="rect">
            <a:avLst/>
          </a:prstGeom>
          <a:noFill/>
          <a:ln/>
        </p:spPr>
        <p:txBody>
          <a:bodyPr wrap="square" lIns="0" tIns="0" rIns="0" bIns="0" rtlCol="0" anchor="ctr"/>
          <a:lstStyle/>
          <a:p>
            <a:pPr indent="0" marL="0">
              <a:buNone/>
            </a:pPr>
            <a:r>
              <a:rPr lang="en-US" sz="1600" dirty="0">
                <a:solidFill>
                  <a:srgbClr val="F2B8A6"/>
                </a:solidFill>
                <a:latin typeface="Calibri" pitchFamily="34" charset="0"/>
                <a:ea typeface="Calibri" pitchFamily="34" charset="-122"/>
                <a:cs typeface="Calibri" pitchFamily="34" charset="-120"/>
              </a:rPr>
              <a:t>Annexe A du guide Word : les pièces à cocher et à dater, famille par famille.</a:t>
            </a:r>
            <a:endParaRPr lang="en-US" sz="1600" dirty="0"/>
          </a:p>
        </p:txBody>
      </p:sp>
      <p:sp>
        <p:nvSpPr>
          <p:cNvPr id="4" name="Text 2"/>
          <p:cNvSpPr txBox="1"/>
          <p:nvPr/>
        </p:nvSpPr>
        <p:spPr>
          <a:xfrm>
            <a:off x="548640" y="2651760"/>
            <a:ext cx="804672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Section 5 du guide : pour chaque donnée, l'étape de saisie, la pièce, le calcul, le barème et le point d'attention.</a:t>
            </a:r>
            <a:endParaRPr lang="en-US" sz="1400" dirty="0"/>
          </a:p>
        </p:txBody>
      </p:sp>
      <p:sp>
        <p:nvSpPr>
          <p:cNvPr id="5" name="Text 3"/>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600" b="1" dirty="0">
                <a:solidFill>
                  <a:srgbClr val="CADCFC"/>
                </a:solidFill>
                <a:latin typeface="Cambria" pitchFamily="34" charset="0"/>
                <a:ea typeface="Cambria" pitchFamily="34" charset="-122"/>
                <a:cs typeface="Cambria" pitchFamily="34" charset="-120"/>
              </a:rPr>
              <a:t>Questions ?</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du chargé d'affaires — crédit à la promotion immobilière</dc:title>
  <dc:subject>PptxGenJS Presentation</dc:subject>
  <dc:creator>PptxGenJS</dc:creator>
  <cp:lastModifiedBy>PptxGenJS</cp:lastModifiedBy>
  <cp:revision>1</cp:revision>
  <dcterms:created xsi:type="dcterms:W3CDTF">2026-10-01T08:04:19Z</dcterms:created>
  <dcterms:modified xsi:type="dcterms:W3CDTF">2026-10-01T08:04:19Z</dcterms:modified>
</cp:coreProperties>
</file>